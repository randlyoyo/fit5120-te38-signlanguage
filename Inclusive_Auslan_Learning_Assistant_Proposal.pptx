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ucibfGEsyEww06UK1Elnn5xvg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Project content supplied by the team in the uploaded proposal documents.</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g3fac1166822_3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g3fac1166822_3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rgbClr val="000000"/>
                </a:solidFill>
                <a:latin typeface="Arial"/>
                <a:ea typeface="Arial"/>
                <a:cs typeface="Arial"/>
                <a:sym typeface="Arial"/>
              </a:rPr>
              <a:t>[Sources]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rgbClr val="000000"/>
                </a:solidFill>
                <a:latin typeface="Arial"/>
                <a:ea typeface="Arial"/>
                <a:cs typeface="Arial"/>
                <a:sym typeface="Arial"/>
              </a:rPr>
              <a:t>- ABC News, Sarah Moss, 13 April 2022: https://www.abc.net.au/news/2022-04-13/family-pleas-for-auslan-teacher-go-unanswered/100985036</a:t>
            </a:r>
            <a:endParaRPr/>
          </a:p>
        </p:txBody>
      </p:sp>
      <p:sp>
        <p:nvSpPr>
          <p:cNvPr id="31" name="Google Shape;31;g3fac1166822_3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Feature descriptions supplied in Proposal of Sign language learning assistance (2), (3), (6), and (7).docx.</a:t>
            </a:r>
            <a:endParaRPr/>
          </a:p>
        </p:txBody>
      </p:sp>
      <p:sp>
        <p:nvSpPr>
          <p:cNvPr id="93" name="Google Shape;9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Sarah Thompson persona image and details supplied by the project team in Proposal of Sign language learning assistance (1).docx.</a:t>
            </a:r>
            <a:endParaRPr/>
          </a:p>
        </p:txBody>
      </p:sp>
      <p:sp>
        <p:nvSpPr>
          <p:cNvPr id="127" name="Google Shape;12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Epic draft derived from the team's existing key features; it has not yet been formally approved by the team.</a:t>
            </a:r>
            <a:endParaRPr/>
          </a:p>
        </p:txBody>
      </p:sp>
      <p:sp>
        <p:nvSpPr>
          <p:cNvPr id="153" name="Google Shape;15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ac1166822_6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g3fac1166822_6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Technical approach supplied in Proposal of Sign language learning assistance (4) and (5).docx.</a:t>
            </a:r>
            <a:endParaRPr/>
          </a:p>
          <a:p>
            <a:pPr indent="0" lvl="0" marL="0" rtl="0" algn="l">
              <a:spcBef>
                <a:spcPts val="0"/>
              </a:spcBef>
              <a:spcAft>
                <a:spcPts val="0"/>
              </a:spcAft>
              <a:buNone/>
            </a:pPr>
            <a:r>
              <a:rPr lang="en-US" sz="1200"/>
              <a:t>- UCI Australian Sign Language Signs dataset: https://archive.ics.uci.edu/dataset/115/australian+sign+language+signs+high+quality</a:t>
            </a:r>
            <a:endParaRPr/>
          </a:p>
        </p:txBody>
      </p:sp>
      <p:sp>
        <p:nvSpPr>
          <p:cNvPr id="186" name="Google Shape;186;g3fac1166822_6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Prototype frames are intentional placeholders based on the required Iteration 1 user journey.</a:t>
            </a:r>
            <a:endParaRPr/>
          </a:p>
        </p:txBody>
      </p:sp>
      <p:sp>
        <p:nvSpPr>
          <p:cNvPr id="218" name="Google Shape;218;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t>Where the data comes from: five sources, three jobs. Signbank is the authority on what each sign looks like - we embed and attribute its videos, and because its licence is no-derivatives we never train on them. Our own recordings, made with Auslan-fluent signers, are the actual training data. MM-WLAuslan is the large Auslan video set held for later iterations. The UCI set has no video at all, so it only proves the classifier design before our own data is ready. And the app generates its own practice data as people use it. How we use it: recordings become MediaPipe keypoints, the classifier learns on keypoints, the webcam gives live feedback, and every attempt is logged so the app knows what to review. The point to remember is that raw video never reaches the model - keypoints are what let recorded training data work on a laptop webcam at home.</a:t>
            </a:r>
            <a:endParaRPr/>
          </a:p>
        </p:txBody>
      </p:sp>
      <p:sp>
        <p:nvSpPr>
          <p:cNvPr id="247" name="Google Shape;24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ac1166822_3_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g3fac1166822_3_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rgbClr val="000000"/>
                </a:solidFill>
                <a:latin typeface="Arial"/>
                <a:ea typeface="Arial"/>
                <a:cs typeface="Arial"/>
                <a:sym typeface="Arial"/>
              </a:rPr>
              <a:t>[Sources]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rgbClr val="000000"/>
                </a:solidFill>
                <a:latin typeface="Arial"/>
                <a:ea typeface="Arial"/>
                <a:cs typeface="Arial"/>
                <a:sym typeface="Arial"/>
              </a:rPr>
              <a:t>- Deaf Children Australia: https://www.deafchildrenaustralia.org.au/</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rgbClr val="000000"/>
                </a:solidFill>
                <a:latin typeface="Arial"/>
                <a:ea typeface="Arial"/>
                <a:cs typeface="Arial"/>
                <a:sym typeface="Arial"/>
              </a:rPr>
              <a:t>- Expression Australia: https://www.expression.com.au/</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rgbClr val="000000"/>
                </a:solidFill>
                <a:latin typeface="Arial"/>
                <a:ea typeface="Arial"/>
                <a:cs typeface="Arial"/>
                <a:sym typeface="Arial"/>
              </a:rPr>
              <a:t>- ABC News: https://www.abc.net.au/news/2022-04-13/family-pleas-for-auslan-teacher-go-unanswered/100985036</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rgbClr val="000000"/>
                </a:solidFill>
                <a:latin typeface="Arial"/>
                <a:ea typeface="Arial"/>
                <a:cs typeface="Arial"/>
                <a:sym typeface="Arial"/>
              </a:rPr>
              <a:t>- UCI dataset: https://archive.ics.uci.edu/dataset/115/australian+sign+language+signs+high+quality</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rgbClr val="000000"/>
                </a:solidFill>
                <a:latin typeface="Arial"/>
                <a:ea typeface="Arial"/>
                <a:cs typeface="Arial"/>
                <a:sym typeface="Arial"/>
              </a:rPr>
              <a:t>- Expanded Auslan Corpus Lite: https://shop.monash.edu/expanded-auslan-corpus-lite.html</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rgbClr val="000000"/>
                </a:solidFill>
                <a:latin typeface="Arial"/>
                <a:ea typeface="Arial"/>
                <a:cs typeface="Arial"/>
                <a:sym typeface="Arial"/>
              </a:rPr>
              <a:t>- UN SDGs: https://sdgs.un.org/goals</a:t>
            </a:r>
            <a:endParaRPr/>
          </a:p>
        </p:txBody>
      </p:sp>
      <p:sp>
        <p:nvSpPr>
          <p:cNvPr id="321" name="Google Shape;321;g3fac1166822_3_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7"/>
        </a:solidFill>
      </p:bgPr>
    </p:bg>
    <p:spTree>
      <p:nvGrpSpPr>
        <p:cNvPr id="15" name="Shape 15"/>
        <p:cNvGrpSpPr/>
        <p:nvPr/>
      </p:nvGrpSpPr>
      <p:grpSpPr>
        <a:xfrm>
          <a:off x="0" y="0"/>
          <a:ext cx="0" cy="0"/>
          <a:chOff x="0" y="0"/>
          <a:chExt cx="0" cy="0"/>
        </a:xfrm>
      </p:grpSpPr>
      <p:sp>
        <p:nvSpPr>
          <p:cNvPr id="16" name="Google Shape;16;p1"/>
          <p:cNvSpPr/>
          <p:nvPr/>
        </p:nvSpPr>
        <p:spPr>
          <a:xfrm>
            <a:off x="9906000" y="571500"/>
            <a:ext cx="1428750" cy="1428750"/>
          </a:xfrm>
          <a:prstGeom prst="ellipse">
            <a:avLst/>
          </a:prstGeom>
          <a:solidFill>
            <a:srgbClr val="E7F3EA"/>
          </a:solidFill>
          <a:ln cap="flat" cmpd="sng" w="9525">
            <a:solidFill>
              <a:srgbClr val="E7F3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10591800" y="1162050"/>
            <a:ext cx="1000125" cy="1000125"/>
          </a:xfrm>
          <a:prstGeom prst="ellipse">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10591800" y="971550"/>
            <a:ext cx="38100" cy="1066800"/>
          </a:xfrm>
          <a:prstGeom prst="rect">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685800" y="552450"/>
            <a:ext cx="59055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6EA284"/>
                </a:solidFill>
                <a:latin typeface="Arial"/>
                <a:ea typeface="Arial"/>
                <a:cs typeface="Arial"/>
                <a:sym typeface="Arial"/>
              </a:rPr>
              <a:t>FIT5120 · PROPOSAL TO INDUSTRY MENTOR</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685800" y="1428750"/>
            <a:ext cx="8667750" cy="1257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294E43"/>
                </a:solidFill>
                <a:latin typeface="Arial"/>
                <a:ea typeface="Arial"/>
                <a:cs typeface="Arial"/>
                <a:sym typeface="Arial"/>
              </a:rPr>
              <a:t>An Inclusive and Accessible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294E43"/>
                </a:solidFill>
                <a:latin typeface="Arial"/>
                <a:ea typeface="Arial"/>
                <a:cs typeface="Arial"/>
                <a:sym typeface="Arial"/>
              </a:rPr>
              <a:t>Auslan Learning Assistant</a:t>
            </a:r>
            <a:endParaRPr b="0" i="0" sz="1400" u="none" cap="none" strike="noStrike">
              <a:solidFill>
                <a:srgbClr val="000000"/>
              </a:solidFill>
              <a:latin typeface="Arial"/>
              <a:ea typeface="Arial"/>
              <a:cs typeface="Arial"/>
              <a:sym typeface="Arial"/>
            </a:endParaRPr>
          </a:p>
        </p:txBody>
      </p:sp>
      <p:sp>
        <p:nvSpPr>
          <p:cNvPr id="21" name="Google Shape;21;p1"/>
          <p:cNvSpPr/>
          <p:nvPr/>
        </p:nvSpPr>
        <p:spPr>
          <a:xfrm>
            <a:off x="685800" y="2952750"/>
            <a:ext cx="8572500" cy="628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65766F"/>
                </a:solidFill>
                <a:latin typeface="Arial"/>
                <a:ea typeface="Arial"/>
                <a:cs typeface="Arial"/>
                <a:sym typeface="Arial"/>
              </a:rPr>
              <a:t>Helping Australian families learn practical Auslan through accessible, interactive and personalised learning.</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685800" y="4038600"/>
            <a:ext cx="9525000" cy="1200150"/>
          </a:xfrm>
          <a:prstGeom prst="roundRect">
            <a:avLst>
              <a:gd fmla="val 12698"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914400" y="4238625"/>
            <a:ext cx="19050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ELEVATOR PITCH</a:t>
            </a:r>
            <a:endParaRPr b="0" i="0" sz="1400" u="none" cap="none" strike="noStrike">
              <a:solidFill>
                <a:srgbClr val="000000"/>
              </a:solidFill>
              <a:latin typeface="Arial"/>
              <a:ea typeface="Arial"/>
              <a:cs typeface="Arial"/>
              <a:sym typeface="Arial"/>
            </a:endParaRPr>
          </a:p>
        </p:txBody>
      </p:sp>
      <p:sp>
        <p:nvSpPr>
          <p:cNvPr id="24" name="Google Shape;24;p1"/>
          <p:cNvSpPr/>
          <p:nvPr/>
        </p:nvSpPr>
        <p:spPr>
          <a:xfrm>
            <a:off x="914400" y="4429125"/>
            <a:ext cx="8972700" cy="59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26352F"/>
                </a:solidFill>
                <a:latin typeface="Arial"/>
                <a:ea typeface="Arial"/>
                <a:cs typeface="Arial"/>
                <a:sym typeface="Arial"/>
              </a:rPr>
              <a:t>Parents and caregivers of Deaf or hard-of-hearing children often struggle to learn practical Auslan for everyday family communication. Our platform combines guided demonstrations, webcam practice and personalised revision in one accessible learning experience.</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685800" y="5572125"/>
            <a:ext cx="6858000" cy="666750"/>
          </a:xfrm>
          <a:prstGeom prst="roundRect">
            <a:avLst>
              <a:gd fmla="val 17143" name="adj"/>
            </a:avLst>
          </a:prstGeom>
          <a:solidFill>
            <a:srgbClr val="FFF8E7"/>
          </a:solidFill>
          <a:ln cap="flat" cmpd="sng" w="9525">
            <a:solidFill>
              <a:srgbClr val="E7BE7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857250" y="5686425"/>
            <a:ext cx="65151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B77A25"/>
                </a:solidFill>
                <a:latin typeface="Arial"/>
                <a:ea typeface="Arial"/>
                <a:cs typeface="Arial"/>
                <a:sym typeface="Arial"/>
              </a:rPr>
              <a:t>TE38 BitDance</a:t>
            </a:r>
            <a:endParaRPr b="0" i="0" sz="2100" u="none" cap="none" strike="noStrike">
              <a:solidFill>
                <a:srgbClr val="000000"/>
              </a:solidFill>
              <a:latin typeface="Arial"/>
              <a:ea typeface="Arial"/>
              <a:cs typeface="Arial"/>
              <a:sym typeface="Arial"/>
            </a:endParaRPr>
          </a:p>
        </p:txBody>
      </p:sp>
      <p:sp>
        <p:nvSpPr>
          <p:cNvPr id="27" name="Google Shape;27;p1"/>
          <p:cNvSpPr/>
          <p:nvPr/>
        </p:nvSpPr>
        <p:spPr>
          <a:xfrm>
            <a:off x="11144250" y="6496050"/>
            <a:ext cx="381000" cy="1714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25"/>
              <a:buFont typeface="Arial"/>
              <a:buNone/>
            </a:pPr>
            <a:r>
              <a:rPr b="1" i="0" lang="en-US" sz="825" u="none" cap="none" strike="noStrike">
                <a:solidFill>
                  <a:srgbClr val="6EA284"/>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g3fac1166822_3_0"/>
          <p:cNvSpPr/>
          <p:nvPr/>
        </p:nvSpPr>
        <p:spPr>
          <a:xfrm>
            <a:off x="609600" y="333375"/>
            <a:ext cx="49530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NEWS CONTEXT</a:t>
            </a:r>
            <a:endParaRPr b="1" i="0" sz="900" u="none" cap="none" strike="noStrike">
              <a:solidFill>
                <a:srgbClr val="6EA284"/>
              </a:solidFill>
              <a:latin typeface="Arial"/>
              <a:ea typeface="Arial"/>
              <a:cs typeface="Arial"/>
              <a:sym typeface="Arial"/>
            </a:endParaRPr>
          </a:p>
        </p:txBody>
      </p:sp>
      <p:sp>
        <p:nvSpPr>
          <p:cNvPr id="34" name="Google Shape;34;g3fac1166822_3_0"/>
          <p:cNvSpPr/>
          <p:nvPr/>
        </p:nvSpPr>
        <p:spPr>
          <a:xfrm>
            <a:off x="609600" y="628650"/>
            <a:ext cx="10572750"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294E43"/>
                </a:solidFill>
                <a:latin typeface="Arial"/>
                <a:ea typeface="Arial"/>
                <a:cs typeface="Arial"/>
                <a:sym typeface="Arial"/>
              </a:rPr>
              <a:t>A family’s struggle shows why practical Auslan support matters</a:t>
            </a:r>
            <a:endParaRPr b="1" i="0" sz="2550" u="none" cap="none" strike="noStrike">
              <a:solidFill>
                <a:srgbClr val="294E43"/>
              </a:solidFill>
              <a:latin typeface="Arial"/>
              <a:ea typeface="Arial"/>
              <a:cs typeface="Arial"/>
              <a:sym typeface="Arial"/>
            </a:endParaRPr>
          </a:p>
        </p:txBody>
      </p:sp>
      <p:sp>
        <p:nvSpPr>
          <p:cNvPr id="35" name="Google Shape;35;g3fac1166822_3_0"/>
          <p:cNvSpPr/>
          <p:nvPr/>
        </p:nvSpPr>
        <p:spPr>
          <a:xfrm>
            <a:off x="609600" y="1200150"/>
            <a:ext cx="10972800" cy="1905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g3fac1166822_3_0"/>
          <p:cNvSpPr/>
          <p:nvPr/>
        </p:nvSpPr>
        <p:spPr>
          <a:xfrm>
            <a:off x="609600" y="6524625"/>
            <a:ext cx="47625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65766F"/>
                </a:solidFill>
                <a:latin typeface="Arial"/>
                <a:ea typeface="Arial"/>
                <a:cs typeface="Arial"/>
                <a:sym typeface="Arial"/>
              </a:rPr>
              <a:t>FIT5120  ·  PROPOSAL TO INDUSTRY MENTOR</a:t>
            </a:r>
            <a:endParaRPr b="1" i="0" sz="750" u="none" cap="none" strike="noStrike">
              <a:solidFill>
                <a:srgbClr val="65766F"/>
              </a:solidFill>
              <a:latin typeface="Arial"/>
              <a:ea typeface="Arial"/>
              <a:cs typeface="Arial"/>
              <a:sym typeface="Arial"/>
            </a:endParaRPr>
          </a:p>
        </p:txBody>
      </p:sp>
      <p:sp>
        <p:nvSpPr>
          <p:cNvPr id="37" name="Google Shape;37;g3fac1166822_3_0"/>
          <p:cNvSpPr/>
          <p:nvPr/>
        </p:nvSpPr>
        <p:spPr>
          <a:xfrm>
            <a:off x="11191875" y="6496050"/>
            <a:ext cx="381000" cy="1714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25"/>
              <a:buFont typeface="Arial"/>
              <a:buNone/>
            </a:pPr>
            <a:r>
              <a:rPr b="1" i="0" lang="en-US" sz="825" u="none" cap="none" strike="noStrike">
                <a:solidFill>
                  <a:srgbClr val="6EA284"/>
                </a:solidFill>
                <a:latin typeface="Arial"/>
                <a:ea typeface="Arial"/>
                <a:cs typeface="Arial"/>
                <a:sym typeface="Arial"/>
              </a:rPr>
              <a:t>02</a:t>
            </a:r>
            <a:endParaRPr b="1" i="0" sz="825" u="none" cap="none" strike="noStrike">
              <a:solidFill>
                <a:srgbClr val="6EA284"/>
              </a:solidFill>
              <a:latin typeface="Arial"/>
              <a:ea typeface="Arial"/>
              <a:cs typeface="Arial"/>
              <a:sym typeface="Arial"/>
            </a:endParaRPr>
          </a:p>
        </p:txBody>
      </p:sp>
      <p:sp>
        <p:nvSpPr>
          <p:cNvPr id="38" name="Google Shape;38;g3fac1166822_3_0"/>
          <p:cNvSpPr/>
          <p:nvPr/>
        </p:nvSpPr>
        <p:spPr>
          <a:xfrm>
            <a:off x="609600" y="1466850"/>
            <a:ext cx="6715125" cy="1809750"/>
          </a:xfrm>
          <a:prstGeom prst="roundRect">
            <a:avLst>
              <a:gd fmla="val 8421"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fac1166822_3_0"/>
          <p:cNvSpPr/>
          <p:nvPr/>
        </p:nvSpPr>
        <p:spPr>
          <a:xfrm>
            <a:off x="838200" y="1676400"/>
            <a:ext cx="2095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ABC NEWS · FAMILY CASE</a:t>
            </a:r>
            <a:endParaRPr b="1" i="0" sz="900" u="none" cap="none" strike="noStrike">
              <a:solidFill>
                <a:srgbClr val="6EA284"/>
              </a:solidFill>
              <a:latin typeface="Arial"/>
              <a:ea typeface="Arial"/>
              <a:cs typeface="Arial"/>
              <a:sym typeface="Arial"/>
            </a:endParaRPr>
          </a:p>
        </p:txBody>
      </p:sp>
      <p:sp>
        <p:nvSpPr>
          <p:cNvPr id="40" name="Google Shape;40;g3fac1166822_3_0"/>
          <p:cNvSpPr/>
          <p:nvPr/>
        </p:nvSpPr>
        <p:spPr>
          <a:xfrm>
            <a:off x="838200" y="2028825"/>
            <a:ext cx="6191250" cy="933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6352F"/>
                </a:solidFill>
                <a:latin typeface="Arial"/>
                <a:ea typeface="Arial"/>
                <a:cs typeface="Arial"/>
                <a:sym typeface="Arial"/>
              </a:rPr>
              <a:t>Parents secured funding—but still could not find a suitable Auslan tutor.</a:t>
            </a:r>
            <a:endParaRPr b="1" i="0" sz="1500" u="none" cap="none" strike="noStrike">
              <a:solidFill>
                <a:srgbClr val="26352F"/>
              </a:solidFill>
              <a:latin typeface="Arial"/>
              <a:ea typeface="Arial"/>
              <a:cs typeface="Arial"/>
              <a:sym typeface="Arial"/>
            </a:endParaRPr>
          </a:p>
        </p:txBody>
      </p:sp>
      <p:sp>
        <p:nvSpPr>
          <p:cNvPr id="41" name="Google Shape;41;g3fac1166822_3_0"/>
          <p:cNvSpPr/>
          <p:nvPr/>
        </p:nvSpPr>
        <p:spPr>
          <a:xfrm>
            <a:off x="838200" y="3009900"/>
            <a:ext cx="619125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65766F"/>
                </a:solidFill>
                <a:latin typeface="Arial"/>
                <a:ea typeface="Arial"/>
                <a:cs typeface="Arial"/>
                <a:sym typeface="Arial"/>
              </a:rPr>
              <a:t>ABC News · Sarah Moss · 13 April 2022</a:t>
            </a:r>
            <a:endParaRPr b="0" i="0" sz="1050" u="none" cap="none" strike="noStrike">
              <a:solidFill>
                <a:srgbClr val="65766F"/>
              </a:solidFill>
              <a:latin typeface="Arial"/>
              <a:ea typeface="Arial"/>
              <a:cs typeface="Arial"/>
              <a:sym typeface="Arial"/>
            </a:endParaRPr>
          </a:p>
        </p:txBody>
      </p:sp>
      <p:sp>
        <p:nvSpPr>
          <p:cNvPr id="42" name="Google Shape;42;g3fac1166822_3_0"/>
          <p:cNvSpPr/>
          <p:nvPr/>
        </p:nvSpPr>
        <p:spPr>
          <a:xfrm>
            <a:off x="609600" y="3638550"/>
            <a:ext cx="24765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94E43"/>
                </a:solidFill>
                <a:latin typeface="Arial"/>
                <a:ea typeface="Arial"/>
                <a:cs typeface="Arial"/>
                <a:sym typeface="Arial"/>
              </a:rPr>
              <a:t>WHAT THE ARTICLE SHOWS</a:t>
            </a:r>
            <a:endParaRPr b="1" i="0" sz="1050" u="none" cap="none" strike="noStrike">
              <a:solidFill>
                <a:srgbClr val="294E43"/>
              </a:solidFill>
              <a:latin typeface="Arial"/>
              <a:ea typeface="Arial"/>
              <a:cs typeface="Arial"/>
              <a:sym typeface="Arial"/>
            </a:endParaRPr>
          </a:p>
        </p:txBody>
      </p:sp>
      <p:sp>
        <p:nvSpPr>
          <p:cNvPr id="43" name="Google Shape;43;g3fac1166822_3_0"/>
          <p:cNvSpPr/>
          <p:nvPr/>
        </p:nvSpPr>
        <p:spPr>
          <a:xfrm>
            <a:off x="609600" y="4076700"/>
            <a:ext cx="85725" cy="85725"/>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fac1166822_3_0"/>
          <p:cNvSpPr/>
          <p:nvPr/>
        </p:nvSpPr>
        <p:spPr>
          <a:xfrm>
            <a:off x="800100" y="4000500"/>
            <a:ext cx="647700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Tilly’s family had NDIS funding but could not find a suitable Auslan tutor.</a:t>
            </a:r>
            <a:endParaRPr b="0" i="0" sz="1200" u="none" cap="none" strike="noStrike">
              <a:solidFill>
                <a:srgbClr val="26352F"/>
              </a:solidFill>
              <a:latin typeface="Arial"/>
              <a:ea typeface="Arial"/>
              <a:cs typeface="Arial"/>
              <a:sym typeface="Arial"/>
            </a:endParaRPr>
          </a:p>
        </p:txBody>
      </p:sp>
      <p:sp>
        <p:nvSpPr>
          <p:cNvPr id="45" name="Google Shape;45;g3fac1166822_3_0"/>
          <p:cNvSpPr/>
          <p:nvPr/>
        </p:nvSpPr>
        <p:spPr>
          <a:xfrm>
            <a:off x="609600" y="4505325"/>
            <a:ext cx="85725" cy="85725"/>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3fac1166822_3_0"/>
          <p:cNvSpPr/>
          <p:nvPr/>
        </p:nvSpPr>
        <p:spPr>
          <a:xfrm>
            <a:off x="800100" y="4429125"/>
            <a:ext cx="647700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Her parents reduced work hours and struggled with lesson cost and format.</a:t>
            </a:r>
            <a:endParaRPr b="0" i="0" sz="1200" u="none" cap="none" strike="noStrike">
              <a:solidFill>
                <a:srgbClr val="26352F"/>
              </a:solidFill>
              <a:latin typeface="Arial"/>
              <a:ea typeface="Arial"/>
              <a:cs typeface="Arial"/>
              <a:sym typeface="Arial"/>
            </a:endParaRPr>
          </a:p>
        </p:txBody>
      </p:sp>
      <p:sp>
        <p:nvSpPr>
          <p:cNvPr id="47" name="Google Shape;47;g3fac1166822_3_0"/>
          <p:cNvSpPr/>
          <p:nvPr/>
        </p:nvSpPr>
        <p:spPr>
          <a:xfrm>
            <a:off x="609600" y="4933950"/>
            <a:ext cx="85725" cy="85725"/>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g3fac1166822_3_0"/>
          <p:cNvSpPr/>
          <p:nvPr/>
        </p:nvSpPr>
        <p:spPr>
          <a:xfrm>
            <a:off x="800100" y="4857750"/>
            <a:ext cx="647700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Her mother worried that online self-learning could teach incorrect signs.</a:t>
            </a:r>
            <a:endParaRPr b="0" i="0" sz="1200" u="none" cap="none" strike="noStrike">
              <a:solidFill>
                <a:srgbClr val="26352F"/>
              </a:solidFill>
              <a:latin typeface="Arial"/>
              <a:ea typeface="Arial"/>
              <a:cs typeface="Arial"/>
              <a:sym typeface="Arial"/>
            </a:endParaRPr>
          </a:p>
        </p:txBody>
      </p:sp>
      <p:sp>
        <p:nvSpPr>
          <p:cNvPr id="49" name="Google Shape;49;g3fac1166822_3_0"/>
          <p:cNvSpPr/>
          <p:nvPr/>
        </p:nvSpPr>
        <p:spPr>
          <a:xfrm>
            <a:off x="7572375" y="3638550"/>
            <a:ext cx="4010025" cy="1133475"/>
          </a:xfrm>
          <a:prstGeom prst="roundRect">
            <a:avLst>
              <a:gd fmla="val 10084"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g3fac1166822_3_0"/>
          <p:cNvSpPr/>
          <p:nvPr/>
        </p:nvSpPr>
        <p:spPr>
          <a:xfrm>
            <a:off x="7800975" y="3829050"/>
            <a:ext cx="2095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WHY THIS ARTICLE</a:t>
            </a:r>
            <a:endParaRPr b="1" i="0" sz="900" u="none" cap="none" strike="noStrike">
              <a:solidFill>
                <a:srgbClr val="6EA284"/>
              </a:solidFill>
              <a:latin typeface="Arial"/>
              <a:ea typeface="Arial"/>
              <a:cs typeface="Arial"/>
              <a:sym typeface="Arial"/>
            </a:endParaRPr>
          </a:p>
        </p:txBody>
      </p:sp>
      <p:sp>
        <p:nvSpPr>
          <p:cNvPr id="51" name="Google Shape;51;g3fac1166822_3_0"/>
          <p:cNvSpPr/>
          <p:nvPr/>
        </p:nvSpPr>
        <p:spPr>
          <a:xfrm>
            <a:off x="7800975" y="4114800"/>
            <a:ext cx="34290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94E43"/>
                </a:solidFill>
                <a:latin typeface="Arial"/>
                <a:ea typeface="Arial"/>
                <a:cs typeface="Arial"/>
                <a:sym typeface="Arial"/>
              </a:rPr>
              <a:t>Funding does not always create access.</a:t>
            </a:r>
            <a:endParaRPr b="1" i="0" sz="1500" u="none" cap="none" strike="noStrike">
              <a:solidFill>
                <a:srgbClr val="294E43"/>
              </a:solidFill>
              <a:latin typeface="Arial"/>
              <a:ea typeface="Arial"/>
              <a:cs typeface="Arial"/>
              <a:sym typeface="Arial"/>
            </a:endParaRPr>
          </a:p>
        </p:txBody>
      </p:sp>
      <p:sp>
        <p:nvSpPr>
          <p:cNvPr id="52" name="Google Shape;52;g3fac1166822_3_0"/>
          <p:cNvSpPr/>
          <p:nvPr/>
        </p:nvSpPr>
        <p:spPr>
          <a:xfrm>
            <a:off x="7572375" y="4953000"/>
            <a:ext cx="4010025" cy="1238250"/>
          </a:xfrm>
          <a:prstGeom prst="roundRect">
            <a:avLst>
              <a:gd fmla="val 9231" name="adj"/>
            </a:avLst>
          </a:prstGeom>
          <a:solidFill>
            <a:srgbClr val="FFF8E7"/>
          </a:solidFill>
          <a:ln cap="flat" cmpd="sng" w="9525">
            <a:solidFill>
              <a:srgbClr val="E7BE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g3fac1166822_3_0"/>
          <p:cNvSpPr/>
          <p:nvPr/>
        </p:nvSpPr>
        <p:spPr>
          <a:xfrm>
            <a:off x="7743825" y="5067300"/>
            <a:ext cx="36671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77A25"/>
                </a:solidFill>
                <a:latin typeface="Arial"/>
                <a:ea typeface="Arial"/>
                <a:cs typeface="Arial"/>
                <a:sym typeface="Arial"/>
              </a:rPr>
              <a:t>PROJECT OPPORTUNITY</a:t>
            </a:r>
            <a:endParaRPr b="1" i="0" sz="1200" u="none" cap="none" strike="noStrike">
              <a:solidFill>
                <a:srgbClr val="B77A25"/>
              </a:solidFill>
              <a:latin typeface="Arial"/>
              <a:ea typeface="Arial"/>
              <a:cs typeface="Arial"/>
              <a:sym typeface="Arial"/>
            </a:endParaRPr>
          </a:p>
        </p:txBody>
      </p:sp>
      <p:sp>
        <p:nvSpPr>
          <p:cNvPr id="54" name="Google Shape;54;g3fac1166822_3_0"/>
          <p:cNvSpPr/>
          <p:nvPr/>
        </p:nvSpPr>
        <p:spPr>
          <a:xfrm>
            <a:off x="7743825" y="5334000"/>
            <a:ext cx="3667125" cy="781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7A5A27"/>
                </a:solidFill>
                <a:latin typeface="Arial"/>
                <a:ea typeface="Arial"/>
                <a:cs typeface="Arial"/>
                <a:sym typeface="Arial"/>
              </a:rPr>
              <a:t>A flexible platform can give parents short lessons and guided practice at home.</a:t>
            </a:r>
            <a:endParaRPr b="0" i="0" sz="1050" u="none" cap="none" strike="noStrike">
              <a:solidFill>
                <a:srgbClr val="7A5A27"/>
              </a:solidFill>
              <a:latin typeface="Arial"/>
              <a:ea typeface="Arial"/>
              <a:cs typeface="Arial"/>
              <a:sym typeface="Arial"/>
            </a:endParaRPr>
          </a:p>
        </p:txBody>
      </p:sp>
      <p:pic>
        <p:nvPicPr>
          <p:cNvPr id="55" name="Google Shape;55;g3fac1166822_3_0"/>
          <p:cNvPicPr preferRelativeResize="0"/>
          <p:nvPr/>
        </p:nvPicPr>
        <p:blipFill rotWithShape="1">
          <a:blip r:embed="rId3">
            <a:alphaModFix/>
          </a:blip>
          <a:srcRect b="0" l="0" r="0" t="0"/>
          <a:stretch/>
        </p:blipFill>
        <p:spPr>
          <a:xfrm>
            <a:off x="7680325" y="1340485"/>
            <a:ext cx="3748405" cy="22117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7"/>
        </a:solidFill>
      </p:bgPr>
    </p:bg>
    <p:spTree>
      <p:nvGrpSpPr>
        <p:cNvPr id="60" name="Shape 60"/>
        <p:cNvGrpSpPr/>
        <p:nvPr/>
      </p:nvGrpSpPr>
      <p:grpSpPr>
        <a:xfrm>
          <a:off x="0" y="0"/>
          <a:ext cx="0" cy="0"/>
          <a:chOff x="0" y="0"/>
          <a:chExt cx="0" cy="0"/>
        </a:xfrm>
      </p:grpSpPr>
      <p:sp>
        <p:nvSpPr>
          <p:cNvPr id="61" name="Google Shape;61;p2"/>
          <p:cNvSpPr/>
          <p:nvPr/>
        </p:nvSpPr>
        <p:spPr>
          <a:xfrm>
            <a:off x="609600" y="333375"/>
            <a:ext cx="49530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03· THE PROBLEM</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a:off x="609600" y="628650"/>
            <a:ext cx="10572750"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294E43"/>
                </a:solidFill>
                <a:latin typeface="Arial"/>
                <a:ea typeface="Arial"/>
                <a:cs typeface="Arial"/>
                <a:sym typeface="Arial"/>
              </a:rPr>
              <a:t>Limited access to Auslan creates barriers within families</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a:off x="609600" y="1200150"/>
            <a:ext cx="10972800" cy="1905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a:off x="609600" y="6524625"/>
            <a:ext cx="47625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65766F"/>
                </a:solidFill>
                <a:latin typeface="Arial"/>
                <a:ea typeface="Arial"/>
                <a:cs typeface="Arial"/>
                <a:sym typeface="Arial"/>
              </a:rPr>
              <a:t>FIT5120  ·  PROPOSAL TO INDUSTRY MENTOR</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11191875" y="6496050"/>
            <a:ext cx="381000" cy="1714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25"/>
              <a:buFont typeface="Arial"/>
              <a:buNone/>
            </a:pPr>
            <a:r>
              <a:rPr b="1" i="0" lang="en-US" sz="825" u="none" cap="none" strike="noStrike">
                <a:solidFill>
                  <a:srgbClr val="6EA284"/>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a:off x="609600" y="1466850"/>
            <a:ext cx="6715200" cy="2024700"/>
          </a:xfrm>
          <a:prstGeom prst="roundRect">
            <a:avLst>
              <a:gd fmla="val 8421"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838200" y="1676400"/>
            <a:ext cx="2095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PROBLEM STATEMENT</a:t>
            </a:r>
            <a:endParaRPr b="0" i="0" sz="1400" u="none" cap="none" strike="noStrike">
              <a:solidFill>
                <a:srgbClr val="000000"/>
              </a:solidFill>
              <a:latin typeface="Arial"/>
              <a:ea typeface="Arial"/>
              <a:cs typeface="Arial"/>
              <a:sym typeface="Arial"/>
            </a:endParaRPr>
          </a:p>
        </p:txBody>
      </p:sp>
      <p:sp>
        <p:nvSpPr>
          <p:cNvPr id="68" name="Google Shape;68;p2"/>
          <p:cNvSpPr/>
          <p:nvPr/>
        </p:nvSpPr>
        <p:spPr>
          <a:xfrm>
            <a:off x="838200" y="2028825"/>
            <a:ext cx="6191250" cy="933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6352F"/>
                </a:solidFill>
                <a:latin typeface="Arial"/>
                <a:ea typeface="Arial"/>
                <a:cs typeface="Arial"/>
                <a:sym typeface="Arial"/>
              </a:rPr>
              <a:t>Parents and caregivers of young Deaf or hard-of-hearing children in Australia often struggle to communicate effectively because they have limited Auslan knowledge and difficulty accessing practical learning support.</a:t>
            </a:r>
            <a:endParaRPr b="0" i="0" sz="1400" u="none" cap="none" strike="noStrike">
              <a:solidFill>
                <a:srgbClr val="000000"/>
              </a:solidFill>
              <a:latin typeface="Arial"/>
              <a:ea typeface="Arial"/>
              <a:cs typeface="Arial"/>
              <a:sym typeface="Arial"/>
            </a:endParaRPr>
          </a:p>
        </p:txBody>
      </p:sp>
      <p:sp>
        <p:nvSpPr>
          <p:cNvPr id="69" name="Google Shape;69;p2"/>
          <p:cNvSpPr/>
          <p:nvPr/>
        </p:nvSpPr>
        <p:spPr>
          <a:xfrm>
            <a:off x="838200" y="3009900"/>
            <a:ext cx="619125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65766F"/>
                </a:solidFill>
                <a:latin typeface="Arial"/>
                <a:ea typeface="Arial"/>
                <a:cs typeface="Arial"/>
                <a:sym typeface="Arial"/>
              </a:rPr>
              <a:t>This can affect daily communication, emotional expression and strong family relationships.</a:t>
            </a:r>
            <a:endParaRPr b="0" i="0" sz="1400" u="none" cap="none" strike="noStrike">
              <a:solidFill>
                <a:srgbClr val="000000"/>
              </a:solidFill>
              <a:latin typeface="Arial"/>
              <a:ea typeface="Arial"/>
              <a:cs typeface="Arial"/>
              <a:sym typeface="Arial"/>
            </a:endParaRPr>
          </a:p>
        </p:txBody>
      </p:sp>
      <p:sp>
        <p:nvSpPr>
          <p:cNvPr id="70" name="Google Shape;70;p2"/>
          <p:cNvSpPr/>
          <p:nvPr/>
        </p:nvSpPr>
        <p:spPr>
          <a:xfrm>
            <a:off x="7572375" y="1466850"/>
            <a:ext cx="4010100" cy="2088600"/>
          </a:xfrm>
          <a:prstGeom prst="roundRect">
            <a:avLst>
              <a:gd fmla="val 8421" name="adj"/>
            </a:avLst>
          </a:prstGeom>
          <a:solidFill>
            <a:srgbClr val="E7F3EA"/>
          </a:solidFill>
          <a:ln cap="flat" cmpd="sng" w="9525">
            <a:solidFill>
              <a:srgbClr val="E7F3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7800975" y="1676400"/>
            <a:ext cx="19050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WHY IT MATTERS</a:t>
            </a:r>
            <a:endParaRPr b="0" i="0" sz="1400" u="none" cap="none" strike="noStrike">
              <a:solidFill>
                <a:srgbClr val="000000"/>
              </a:solidFill>
              <a:latin typeface="Arial"/>
              <a:ea typeface="Arial"/>
              <a:cs typeface="Arial"/>
              <a:sym typeface="Arial"/>
            </a:endParaRPr>
          </a:p>
        </p:txBody>
      </p:sp>
      <p:sp>
        <p:nvSpPr>
          <p:cNvPr id="72" name="Google Shape;72;p2"/>
          <p:cNvSpPr/>
          <p:nvPr/>
        </p:nvSpPr>
        <p:spPr>
          <a:xfrm>
            <a:off x="7800975" y="2076450"/>
            <a:ext cx="85725" cy="85725"/>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
          <p:cNvSpPr/>
          <p:nvPr/>
        </p:nvSpPr>
        <p:spPr>
          <a:xfrm>
            <a:off x="7991475" y="2000250"/>
            <a:ext cx="32385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Everyday family communication becomes harder</a:t>
            </a:r>
            <a:endParaRPr b="0" i="0" sz="1400" u="none" cap="none" strike="noStrike">
              <a:solidFill>
                <a:srgbClr val="000000"/>
              </a:solidFill>
              <a:latin typeface="Arial"/>
              <a:ea typeface="Arial"/>
              <a:cs typeface="Arial"/>
              <a:sym typeface="Arial"/>
            </a:endParaRPr>
          </a:p>
        </p:txBody>
      </p:sp>
      <p:sp>
        <p:nvSpPr>
          <p:cNvPr id="74" name="Google Shape;74;p2"/>
          <p:cNvSpPr/>
          <p:nvPr/>
        </p:nvSpPr>
        <p:spPr>
          <a:xfrm>
            <a:off x="7800975" y="2371725"/>
            <a:ext cx="85725" cy="85725"/>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
          <p:cNvSpPr/>
          <p:nvPr/>
        </p:nvSpPr>
        <p:spPr>
          <a:xfrm>
            <a:off x="7991475" y="2295525"/>
            <a:ext cx="32385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Learning support may be difficult to access</a:t>
            </a:r>
            <a:endParaRPr b="0" i="0" sz="1400" u="none" cap="none" strike="noStrike">
              <a:solidFill>
                <a:srgbClr val="000000"/>
              </a:solidFill>
              <a:latin typeface="Arial"/>
              <a:ea typeface="Arial"/>
              <a:cs typeface="Arial"/>
              <a:sym typeface="Arial"/>
            </a:endParaRPr>
          </a:p>
        </p:txBody>
      </p:sp>
      <p:sp>
        <p:nvSpPr>
          <p:cNvPr id="76" name="Google Shape;76;p2"/>
          <p:cNvSpPr/>
          <p:nvPr/>
        </p:nvSpPr>
        <p:spPr>
          <a:xfrm>
            <a:off x="7800975" y="2667000"/>
            <a:ext cx="85725" cy="85725"/>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7991475" y="2590800"/>
            <a:ext cx="32385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Online resources can be scattered or too fast</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7800975" y="2962275"/>
            <a:ext cx="85725" cy="85725"/>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7991475" y="2886075"/>
            <a:ext cx="32385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Most videos cannot confirm practice accuracy</a:t>
            </a:r>
            <a:endParaRPr b="0" i="0" sz="1400" u="none" cap="none" strike="noStrike">
              <a:solidFill>
                <a:srgbClr val="000000"/>
              </a:solidFill>
              <a:latin typeface="Arial"/>
              <a:ea typeface="Arial"/>
              <a:cs typeface="Arial"/>
              <a:sym typeface="Arial"/>
            </a:endParaRPr>
          </a:p>
        </p:txBody>
      </p:sp>
      <p:sp>
        <p:nvSpPr>
          <p:cNvPr id="80" name="Google Shape;80;p2"/>
          <p:cNvSpPr/>
          <p:nvPr/>
        </p:nvSpPr>
        <p:spPr>
          <a:xfrm>
            <a:off x="600075" y="3815400"/>
            <a:ext cx="24765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94E43"/>
                </a:solidFill>
                <a:latin typeface="Arial"/>
                <a:ea typeface="Arial"/>
                <a:cs typeface="Arial"/>
                <a:sym typeface="Arial"/>
              </a:rPr>
              <a:t>AUSTRALIAN EVIDENCE</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600075" y="4253550"/>
            <a:ext cx="85800" cy="858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790575" y="4177350"/>
            <a:ext cx="6477000" cy="409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Parents’ pleas for an Auslan tutor went unanswered — ABC News</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600075" y="4682175"/>
            <a:ext cx="85800" cy="858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790575" y="4605975"/>
            <a:ext cx="6477000" cy="409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Australian children denied Auslan access — ABC News</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600075" y="5110800"/>
            <a:ext cx="85800" cy="858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790575" y="5034600"/>
            <a:ext cx="6477000" cy="409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Family Communication Experiences of Deaf Australians — Monash University</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7572413" y="3967163"/>
            <a:ext cx="4010100" cy="1133400"/>
          </a:xfrm>
          <a:prstGeom prst="roundRect">
            <a:avLst>
              <a:gd fmla="val 10084"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7800975" y="4110038"/>
            <a:ext cx="2095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UNSDG CONNECTION</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7800975" y="4386263"/>
            <a:ext cx="3429000" cy="47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94E43"/>
                </a:solidFill>
                <a:latin typeface="Arial"/>
                <a:ea typeface="Arial"/>
                <a:cs typeface="Arial"/>
                <a:sym typeface="Arial"/>
              </a:rPr>
              <a:t>SDG 4 · Quality Education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94E43"/>
                </a:solidFill>
                <a:latin typeface="Arial"/>
                <a:ea typeface="Arial"/>
                <a:cs typeface="Arial"/>
                <a:sym typeface="Arial"/>
              </a:rPr>
              <a:t>SDG 10 · Reduced Inequalities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7"/>
        </a:solidFill>
      </p:bgPr>
    </p:bg>
    <p:spTree>
      <p:nvGrpSpPr>
        <p:cNvPr id="94" name="Shape 94"/>
        <p:cNvGrpSpPr/>
        <p:nvPr/>
      </p:nvGrpSpPr>
      <p:grpSpPr>
        <a:xfrm>
          <a:off x="0" y="0"/>
          <a:ext cx="0" cy="0"/>
          <a:chOff x="0" y="0"/>
          <a:chExt cx="0" cy="0"/>
        </a:xfrm>
      </p:grpSpPr>
      <p:sp>
        <p:nvSpPr>
          <p:cNvPr id="95" name="Google Shape;95;p3"/>
          <p:cNvSpPr/>
          <p:nvPr/>
        </p:nvSpPr>
        <p:spPr>
          <a:xfrm>
            <a:off x="609600" y="333375"/>
            <a:ext cx="49530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03 · PROPOSED SOLUTION</a:t>
            </a:r>
            <a:endParaRPr b="0" i="0" sz="1400" u="none" cap="none" strike="noStrike">
              <a:solidFill>
                <a:srgbClr val="000000"/>
              </a:solidFill>
              <a:latin typeface="Arial"/>
              <a:ea typeface="Arial"/>
              <a:cs typeface="Arial"/>
              <a:sym typeface="Arial"/>
            </a:endParaRPr>
          </a:p>
        </p:txBody>
      </p:sp>
      <p:sp>
        <p:nvSpPr>
          <p:cNvPr id="96" name="Google Shape;96;p3"/>
          <p:cNvSpPr/>
          <p:nvPr/>
        </p:nvSpPr>
        <p:spPr>
          <a:xfrm>
            <a:off x="609600" y="628650"/>
            <a:ext cx="10572750"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294E43"/>
                </a:solidFill>
                <a:latin typeface="Arial"/>
                <a:ea typeface="Arial"/>
                <a:cs typeface="Arial"/>
                <a:sym typeface="Arial"/>
              </a:rPr>
              <a:t>One platform connects learning, practice and feedback</a:t>
            </a:r>
            <a:endParaRPr b="0" i="0" sz="1400" u="none" cap="none" strike="noStrike">
              <a:solidFill>
                <a:srgbClr val="000000"/>
              </a:solidFill>
              <a:latin typeface="Arial"/>
              <a:ea typeface="Arial"/>
              <a:cs typeface="Arial"/>
              <a:sym typeface="Arial"/>
            </a:endParaRPr>
          </a:p>
        </p:txBody>
      </p:sp>
      <p:sp>
        <p:nvSpPr>
          <p:cNvPr id="97" name="Google Shape;97;p3"/>
          <p:cNvSpPr/>
          <p:nvPr/>
        </p:nvSpPr>
        <p:spPr>
          <a:xfrm>
            <a:off x="609600" y="1200150"/>
            <a:ext cx="10972800" cy="1905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
          <p:cNvSpPr/>
          <p:nvPr/>
        </p:nvSpPr>
        <p:spPr>
          <a:xfrm>
            <a:off x="609600" y="6524625"/>
            <a:ext cx="47625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65766F"/>
                </a:solidFill>
                <a:latin typeface="Arial"/>
                <a:ea typeface="Arial"/>
                <a:cs typeface="Arial"/>
                <a:sym typeface="Arial"/>
              </a:rPr>
              <a:t>FIT5120  ·  PROPOSAL TO INDUSTRY MENTOR</a:t>
            </a:r>
            <a:endParaRPr b="0" i="0" sz="1400" u="none" cap="none" strike="noStrike">
              <a:solidFill>
                <a:srgbClr val="000000"/>
              </a:solidFill>
              <a:latin typeface="Arial"/>
              <a:ea typeface="Arial"/>
              <a:cs typeface="Arial"/>
              <a:sym typeface="Arial"/>
            </a:endParaRPr>
          </a:p>
        </p:txBody>
      </p:sp>
      <p:sp>
        <p:nvSpPr>
          <p:cNvPr id="99" name="Google Shape;99;p3"/>
          <p:cNvSpPr/>
          <p:nvPr/>
        </p:nvSpPr>
        <p:spPr>
          <a:xfrm>
            <a:off x="11191875" y="6496050"/>
            <a:ext cx="381000" cy="1714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25"/>
              <a:buFont typeface="Arial"/>
              <a:buNone/>
            </a:pPr>
            <a:r>
              <a:rPr b="1" i="0" lang="en-US" sz="825" u="none" cap="none" strike="noStrike">
                <a:solidFill>
                  <a:srgbClr val="6EA284"/>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a:off x="609600" y="1457325"/>
            <a:ext cx="10668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294E43"/>
                </a:solidFill>
                <a:latin typeface="Arial"/>
                <a:ea typeface="Arial"/>
                <a:cs typeface="Arial"/>
                <a:sym typeface="Arial"/>
              </a:rPr>
              <a:t>We propose an inclusive Auslan learning assistant that provides visual, interactive and personalised learning experiences.</a:t>
            </a:r>
            <a:endParaRPr b="0" i="0" sz="1400" u="none" cap="none" strike="noStrike">
              <a:solidFill>
                <a:srgbClr val="000000"/>
              </a:solidFill>
              <a:latin typeface="Arial"/>
              <a:ea typeface="Arial"/>
              <a:cs typeface="Arial"/>
              <a:sym typeface="Arial"/>
            </a:endParaRPr>
          </a:p>
        </p:txBody>
      </p:sp>
      <p:sp>
        <p:nvSpPr>
          <p:cNvPr id="101" name="Google Shape;101;p3"/>
          <p:cNvSpPr/>
          <p:nvPr/>
        </p:nvSpPr>
        <p:spPr>
          <a:xfrm>
            <a:off x="666750" y="2219325"/>
            <a:ext cx="419100" cy="28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EA284"/>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102" name="Google Shape;102;p3"/>
          <p:cNvSpPr/>
          <p:nvPr/>
        </p:nvSpPr>
        <p:spPr>
          <a:xfrm>
            <a:off x="1285875" y="2133600"/>
            <a:ext cx="295290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94E43"/>
                </a:solidFill>
                <a:latin typeface="Arial"/>
                <a:ea typeface="Arial"/>
                <a:cs typeface="Arial"/>
                <a:sym typeface="Arial"/>
              </a:rPr>
              <a:t>Auslan Dictionary</a:t>
            </a:r>
            <a:endParaRPr b="0" i="0" sz="1400" u="none" cap="none" strike="noStrike">
              <a:solidFill>
                <a:srgbClr val="000000"/>
              </a:solidFill>
              <a:latin typeface="Arial"/>
              <a:ea typeface="Arial"/>
              <a:cs typeface="Arial"/>
              <a:sym typeface="Arial"/>
            </a:endParaRPr>
          </a:p>
        </p:txBody>
      </p:sp>
      <p:sp>
        <p:nvSpPr>
          <p:cNvPr id="103" name="Google Shape;103;p3"/>
          <p:cNvSpPr/>
          <p:nvPr/>
        </p:nvSpPr>
        <p:spPr>
          <a:xfrm>
            <a:off x="4238625" y="2152650"/>
            <a:ext cx="68580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26352F"/>
                </a:solidFill>
                <a:latin typeface="Arial"/>
                <a:ea typeface="Arial"/>
                <a:cs typeface="Arial"/>
                <a:sym typeface="Arial"/>
              </a:rPr>
              <a:t>Search signs and view meanings and visual demonstrations.</a:t>
            </a:r>
            <a:endParaRPr b="0" i="0" sz="1400" u="none" cap="none" strike="noStrike">
              <a:solidFill>
                <a:srgbClr val="000000"/>
              </a:solidFill>
              <a:latin typeface="Arial"/>
              <a:ea typeface="Arial"/>
              <a:cs typeface="Arial"/>
              <a:sym typeface="Arial"/>
            </a:endParaRPr>
          </a:p>
        </p:txBody>
      </p:sp>
      <p:sp>
        <p:nvSpPr>
          <p:cNvPr id="104" name="Google Shape;104;p3"/>
          <p:cNvSpPr/>
          <p:nvPr/>
        </p:nvSpPr>
        <p:spPr>
          <a:xfrm>
            <a:off x="666750" y="2638425"/>
            <a:ext cx="104298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666750" y="2914650"/>
            <a:ext cx="419100" cy="28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EA284"/>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a:off x="1285875" y="2828925"/>
            <a:ext cx="295290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94E43"/>
                </a:solidFill>
                <a:latin typeface="Arial"/>
                <a:ea typeface="Arial"/>
                <a:cs typeface="Arial"/>
                <a:sym typeface="Arial"/>
              </a:rPr>
              <a:t>Step-by-Step Learning</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4238625" y="2847975"/>
            <a:ext cx="68580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26352F"/>
                </a:solidFill>
                <a:latin typeface="Arial"/>
                <a:ea typeface="Arial"/>
                <a:cs typeface="Arial"/>
                <a:sym typeface="Arial"/>
              </a:rPr>
              <a:t>Break gestures into smaller movements; pause, replay and slow down.</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666750" y="3333750"/>
            <a:ext cx="104298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666750" y="3609975"/>
            <a:ext cx="419100" cy="28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EA284"/>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a:off x="1285875" y="3524250"/>
            <a:ext cx="295290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94E43"/>
                </a:solidFill>
                <a:latin typeface="Arial"/>
                <a:ea typeface="Arial"/>
                <a:cs typeface="Arial"/>
                <a:sym typeface="Arial"/>
              </a:rPr>
              <a:t>Interactive Practice</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a:off x="4238625" y="3543300"/>
            <a:ext cx="68580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26352F"/>
                </a:solidFill>
                <a:latin typeface="Arial"/>
                <a:ea typeface="Arial"/>
                <a:cs typeface="Arial"/>
                <a:sym typeface="Arial"/>
              </a:rPr>
              <a:t>Use a webcam to practise and receive basic feedback.</a:t>
            </a:r>
            <a:endParaRPr b="0" i="0" sz="1400" u="none" cap="none" strike="noStrike">
              <a:solidFill>
                <a:srgbClr val="000000"/>
              </a:solidFill>
              <a:latin typeface="Arial"/>
              <a:ea typeface="Arial"/>
              <a:cs typeface="Arial"/>
              <a:sym typeface="Arial"/>
            </a:endParaRPr>
          </a:p>
        </p:txBody>
      </p:sp>
      <p:sp>
        <p:nvSpPr>
          <p:cNvPr id="112" name="Google Shape;112;p3"/>
          <p:cNvSpPr/>
          <p:nvPr/>
        </p:nvSpPr>
        <p:spPr>
          <a:xfrm>
            <a:off x="666750" y="4029075"/>
            <a:ext cx="104298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p:nvPr/>
        </p:nvSpPr>
        <p:spPr>
          <a:xfrm>
            <a:off x="666750" y="4305300"/>
            <a:ext cx="419100" cy="28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EA284"/>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114" name="Google Shape;114;p3"/>
          <p:cNvSpPr/>
          <p:nvPr/>
        </p:nvSpPr>
        <p:spPr>
          <a:xfrm>
            <a:off x="1285875" y="4219575"/>
            <a:ext cx="295290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94E43"/>
                </a:solidFill>
                <a:latin typeface="Arial"/>
                <a:ea typeface="Arial"/>
                <a:cs typeface="Arial"/>
                <a:sym typeface="Arial"/>
              </a:rPr>
              <a:t>Personalised Revision</a:t>
            </a:r>
            <a:endParaRPr b="0" i="0" sz="1400" u="none" cap="none" strike="noStrike">
              <a:solidFill>
                <a:srgbClr val="000000"/>
              </a:solidFill>
              <a:latin typeface="Arial"/>
              <a:ea typeface="Arial"/>
              <a:cs typeface="Arial"/>
              <a:sym typeface="Arial"/>
            </a:endParaRPr>
          </a:p>
        </p:txBody>
      </p:sp>
      <p:sp>
        <p:nvSpPr>
          <p:cNvPr id="115" name="Google Shape;115;p3"/>
          <p:cNvSpPr/>
          <p:nvPr/>
        </p:nvSpPr>
        <p:spPr>
          <a:xfrm>
            <a:off x="4238625" y="4238625"/>
            <a:ext cx="68580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26352F"/>
                </a:solidFill>
                <a:latin typeface="Arial"/>
                <a:ea typeface="Arial"/>
                <a:cs typeface="Arial"/>
                <a:sym typeface="Arial"/>
              </a:rPr>
              <a:t>Track progress and recommend signs that need more practice.</a:t>
            </a:r>
            <a:endParaRPr b="0" i="0" sz="1400" u="none" cap="none" strike="noStrike">
              <a:solidFill>
                <a:srgbClr val="000000"/>
              </a:solidFill>
              <a:latin typeface="Arial"/>
              <a:ea typeface="Arial"/>
              <a:cs typeface="Arial"/>
              <a:sym typeface="Arial"/>
            </a:endParaRPr>
          </a:p>
        </p:txBody>
      </p:sp>
      <p:sp>
        <p:nvSpPr>
          <p:cNvPr id="116" name="Google Shape;116;p3"/>
          <p:cNvSpPr/>
          <p:nvPr/>
        </p:nvSpPr>
        <p:spPr>
          <a:xfrm>
            <a:off x="666750" y="4724400"/>
            <a:ext cx="104298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
          <p:cNvSpPr/>
          <p:nvPr/>
        </p:nvSpPr>
        <p:spPr>
          <a:xfrm>
            <a:off x="666750" y="5000625"/>
            <a:ext cx="419100" cy="28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EA284"/>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
        <p:nvSpPr>
          <p:cNvPr id="118" name="Google Shape;118;p3"/>
          <p:cNvSpPr/>
          <p:nvPr/>
        </p:nvSpPr>
        <p:spPr>
          <a:xfrm>
            <a:off x="1285875" y="4914900"/>
            <a:ext cx="295290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94E43"/>
                </a:solidFill>
                <a:latin typeface="Arial"/>
                <a:ea typeface="Arial"/>
                <a:cs typeface="Arial"/>
                <a:sym typeface="Arial"/>
              </a:rPr>
              <a:t>Accessible Experience</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4238625" y="4933950"/>
            <a:ext cx="68580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26352F"/>
                </a:solidFill>
                <a:latin typeface="Arial"/>
                <a:ea typeface="Arial"/>
                <a:cs typeface="Arial"/>
                <a:sym typeface="Arial"/>
              </a:rPr>
              <a:t>Adjust text size, contrast, captions, motion and learning pace.</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666750" y="5419725"/>
            <a:ext cx="104298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609600" y="5753100"/>
            <a:ext cx="10972800" cy="457200"/>
          </a:xfrm>
          <a:prstGeom prst="roundRect">
            <a:avLst>
              <a:gd fmla="val 25000" name="adj"/>
            </a:avLst>
          </a:prstGeom>
          <a:solidFill>
            <a:srgbClr val="294E43"/>
          </a:solidFill>
          <a:ln cap="flat" cmpd="sng" w="9525">
            <a:solidFill>
              <a:srgbClr val="294E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800100" y="5895975"/>
            <a:ext cx="1047750" cy="171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25"/>
              <a:buFont typeface="Arial"/>
              <a:buNone/>
            </a:pPr>
            <a:r>
              <a:rPr b="1" i="0" lang="en-US" sz="825" u="none" cap="none" strike="noStrike">
                <a:solidFill>
                  <a:srgbClr val="CFE7D6"/>
                </a:solidFill>
                <a:latin typeface="Arial"/>
                <a:ea typeface="Arial"/>
                <a:cs typeface="Arial"/>
                <a:sym typeface="Arial"/>
              </a:rPr>
              <a:t>USER VALUE</a:t>
            </a:r>
            <a:endParaRPr b="0" i="0" sz="1400" u="none" cap="none" strike="noStrike">
              <a:solidFill>
                <a:srgbClr val="000000"/>
              </a:solidFill>
              <a:latin typeface="Arial"/>
              <a:ea typeface="Arial"/>
              <a:cs typeface="Arial"/>
              <a:sym typeface="Arial"/>
            </a:endParaRPr>
          </a:p>
        </p:txBody>
      </p:sp>
      <p:sp>
        <p:nvSpPr>
          <p:cNvPr id="123" name="Google Shape;123;p3"/>
          <p:cNvSpPr/>
          <p:nvPr/>
        </p:nvSpPr>
        <p:spPr>
          <a:xfrm>
            <a:off x="1952625" y="5857875"/>
            <a:ext cx="923925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FFFFFF"/>
                </a:solidFill>
                <a:latin typeface="Arial"/>
                <a:ea typeface="Arial"/>
                <a:cs typeface="Arial"/>
                <a:sym typeface="Arial"/>
              </a:rPr>
              <a:t>Users can learn, practise, receive feedback and review signs within one accessible experience.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7"/>
        </a:solidFill>
      </p:bgPr>
    </p:bg>
    <p:spTree>
      <p:nvGrpSpPr>
        <p:cNvPr id="128" name="Shape 128"/>
        <p:cNvGrpSpPr/>
        <p:nvPr/>
      </p:nvGrpSpPr>
      <p:grpSpPr>
        <a:xfrm>
          <a:off x="0" y="0"/>
          <a:ext cx="0" cy="0"/>
          <a:chOff x="0" y="0"/>
          <a:chExt cx="0" cy="0"/>
        </a:xfrm>
      </p:grpSpPr>
      <p:sp>
        <p:nvSpPr>
          <p:cNvPr id="129" name="Google Shape;129;p4"/>
          <p:cNvSpPr/>
          <p:nvPr/>
        </p:nvSpPr>
        <p:spPr>
          <a:xfrm>
            <a:off x="609600" y="333375"/>
            <a:ext cx="49530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04 · WHO WE DESIGN FOR</a:t>
            </a:r>
            <a:endParaRPr b="0" i="0" sz="1400" u="none" cap="none" strike="noStrike">
              <a:solidFill>
                <a:srgbClr val="000000"/>
              </a:solidFill>
              <a:latin typeface="Arial"/>
              <a:ea typeface="Arial"/>
              <a:cs typeface="Arial"/>
              <a:sym typeface="Arial"/>
            </a:endParaRPr>
          </a:p>
        </p:txBody>
      </p:sp>
      <p:sp>
        <p:nvSpPr>
          <p:cNvPr id="130" name="Google Shape;130;p4"/>
          <p:cNvSpPr/>
          <p:nvPr/>
        </p:nvSpPr>
        <p:spPr>
          <a:xfrm>
            <a:off x="609600" y="628650"/>
            <a:ext cx="10572750"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294E43"/>
                </a:solidFill>
                <a:latin typeface="Arial"/>
                <a:ea typeface="Arial"/>
                <a:cs typeface="Arial"/>
                <a:sym typeface="Arial"/>
              </a:rPr>
              <a:t>The primary audience is parents learning Auslan for family life</a:t>
            </a:r>
            <a:endParaRPr b="0" i="0" sz="1400" u="none" cap="none" strike="noStrike">
              <a:solidFill>
                <a:srgbClr val="000000"/>
              </a:solidFill>
              <a:latin typeface="Arial"/>
              <a:ea typeface="Arial"/>
              <a:cs typeface="Arial"/>
              <a:sym typeface="Arial"/>
            </a:endParaRPr>
          </a:p>
        </p:txBody>
      </p:sp>
      <p:sp>
        <p:nvSpPr>
          <p:cNvPr id="131" name="Google Shape;131;p4"/>
          <p:cNvSpPr/>
          <p:nvPr/>
        </p:nvSpPr>
        <p:spPr>
          <a:xfrm>
            <a:off x="609600" y="1200150"/>
            <a:ext cx="10972800" cy="1905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4"/>
          <p:cNvSpPr/>
          <p:nvPr/>
        </p:nvSpPr>
        <p:spPr>
          <a:xfrm>
            <a:off x="609600" y="6524625"/>
            <a:ext cx="47625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65766F"/>
                </a:solidFill>
                <a:latin typeface="Arial"/>
                <a:ea typeface="Arial"/>
                <a:cs typeface="Arial"/>
                <a:sym typeface="Arial"/>
              </a:rPr>
              <a:t>FIT5120  ·  PROPOSAL TO INDUSTRY MENTOR</a:t>
            </a:r>
            <a:endParaRPr b="0" i="0" sz="1400" u="none" cap="none" strike="noStrike">
              <a:solidFill>
                <a:srgbClr val="000000"/>
              </a:solidFill>
              <a:latin typeface="Arial"/>
              <a:ea typeface="Arial"/>
              <a:cs typeface="Arial"/>
              <a:sym typeface="Arial"/>
            </a:endParaRPr>
          </a:p>
        </p:txBody>
      </p:sp>
      <p:sp>
        <p:nvSpPr>
          <p:cNvPr id="133" name="Google Shape;133;p4"/>
          <p:cNvSpPr/>
          <p:nvPr/>
        </p:nvSpPr>
        <p:spPr>
          <a:xfrm>
            <a:off x="11191875" y="6496050"/>
            <a:ext cx="381000" cy="1714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25"/>
              <a:buFont typeface="Arial"/>
              <a:buNone/>
            </a:pPr>
            <a:r>
              <a:rPr b="1" i="0" lang="en-US" sz="825" u="none" cap="none" strike="noStrike">
                <a:solidFill>
                  <a:srgbClr val="6EA284"/>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134" name="Google Shape;134;p4"/>
          <p:cNvSpPr/>
          <p:nvPr/>
        </p:nvSpPr>
        <p:spPr>
          <a:xfrm>
            <a:off x="609600" y="1495425"/>
            <a:ext cx="28575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6EA284"/>
                </a:solidFill>
                <a:latin typeface="Arial"/>
                <a:ea typeface="Arial"/>
                <a:cs typeface="Arial"/>
                <a:sym typeface="Arial"/>
              </a:rPr>
              <a:t>PRIMARY TARGET AUDIENCE</a:t>
            </a:r>
            <a:endParaRPr b="0" i="0" sz="1400" u="none" cap="none" strike="noStrike">
              <a:solidFill>
                <a:srgbClr val="000000"/>
              </a:solidFill>
              <a:latin typeface="Arial"/>
              <a:ea typeface="Arial"/>
              <a:cs typeface="Arial"/>
              <a:sym typeface="Arial"/>
            </a:endParaRPr>
          </a:p>
        </p:txBody>
      </p:sp>
      <p:sp>
        <p:nvSpPr>
          <p:cNvPr id="135" name="Google Shape;135;p4"/>
          <p:cNvSpPr/>
          <p:nvPr/>
        </p:nvSpPr>
        <p:spPr>
          <a:xfrm>
            <a:off x="609600" y="1809750"/>
            <a:ext cx="457200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294E43"/>
                </a:solidFill>
                <a:latin typeface="Arial"/>
                <a:ea typeface="Arial"/>
                <a:cs typeface="Arial"/>
                <a:sym typeface="Arial"/>
              </a:rPr>
              <a:t>Parents and caregivers of young Deaf or hard-of-hearing children in Australia who have limited Auslan knowledge and need flexible support for everyday family communication.</a:t>
            </a:r>
            <a:endParaRPr b="0" i="0" sz="1400" u="none" cap="none" strike="noStrike">
              <a:solidFill>
                <a:srgbClr val="000000"/>
              </a:solidFill>
              <a:latin typeface="Arial"/>
              <a:ea typeface="Arial"/>
              <a:cs typeface="Arial"/>
              <a:sym typeface="Arial"/>
            </a:endParaRPr>
          </a:p>
        </p:txBody>
      </p:sp>
      <p:sp>
        <p:nvSpPr>
          <p:cNvPr id="136" name="Google Shape;136;p4"/>
          <p:cNvSpPr/>
          <p:nvPr/>
        </p:nvSpPr>
        <p:spPr>
          <a:xfrm>
            <a:off x="609600" y="3124200"/>
            <a:ext cx="333375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6EA284"/>
                </a:solidFill>
                <a:latin typeface="Arial"/>
                <a:ea typeface="Arial"/>
                <a:cs typeface="Arial"/>
                <a:sym typeface="Arial"/>
              </a:rPr>
              <a:t>PRIMARY PERSONA · SARAH THOMPSON</a:t>
            </a:r>
            <a:endParaRPr b="0" i="0" sz="1400" u="none" cap="none" strike="noStrike">
              <a:solidFill>
                <a:srgbClr val="000000"/>
              </a:solidFill>
              <a:latin typeface="Arial"/>
              <a:ea typeface="Arial"/>
              <a:cs typeface="Arial"/>
              <a:sym typeface="Arial"/>
            </a:endParaRPr>
          </a:p>
        </p:txBody>
      </p:sp>
      <p:sp>
        <p:nvSpPr>
          <p:cNvPr id="137" name="Google Shape;137;p4"/>
          <p:cNvSpPr/>
          <p:nvPr/>
        </p:nvSpPr>
        <p:spPr>
          <a:xfrm>
            <a:off x="609600" y="3560000"/>
            <a:ext cx="85800" cy="858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4"/>
          <p:cNvSpPr/>
          <p:nvPr/>
        </p:nvSpPr>
        <p:spPr>
          <a:xfrm>
            <a:off x="800100" y="3483800"/>
            <a:ext cx="43338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38 · Parent and primary school teacher</a:t>
            </a:r>
            <a:endParaRPr b="0" i="0" sz="1400" u="none" cap="none" strike="noStrike">
              <a:solidFill>
                <a:srgbClr val="000000"/>
              </a:solidFill>
              <a:latin typeface="Arial"/>
              <a:ea typeface="Arial"/>
              <a:cs typeface="Arial"/>
              <a:sym typeface="Arial"/>
            </a:endParaRPr>
          </a:p>
        </p:txBody>
      </p:sp>
      <p:sp>
        <p:nvSpPr>
          <p:cNvPr id="139" name="Google Shape;139;p4"/>
          <p:cNvSpPr/>
          <p:nvPr/>
        </p:nvSpPr>
        <p:spPr>
          <a:xfrm>
            <a:off x="609600" y="3921950"/>
            <a:ext cx="85800" cy="858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4"/>
          <p:cNvSpPr/>
          <p:nvPr/>
        </p:nvSpPr>
        <p:spPr>
          <a:xfrm>
            <a:off x="800100" y="3845750"/>
            <a:ext cx="43338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Goal: everyday family communication</a:t>
            </a:r>
            <a:endParaRPr b="0" i="0" sz="1400" u="none" cap="none" strike="noStrike">
              <a:solidFill>
                <a:srgbClr val="000000"/>
              </a:solidFill>
              <a:latin typeface="Arial"/>
              <a:ea typeface="Arial"/>
              <a:cs typeface="Arial"/>
              <a:sym typeface="Arial"/>
            </a:endParaRPr>
          </a:p>
        </p:txBody>
      </p:sp>
      <p:sp>
        <p:nvSpPr>
          <p:cNvPr id="141" name="Google Shape;141;p4"/>
          <p:cNvSpPr/>
          <p:nvPr/>
        </p:nvSpPr>
        <p:spPr>
          <a:xfrm>
            <a:off x="609600" y="4283900"/>
            <a:ext cx="85800" cy="858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4"/>
          <p:cNvSpPr/>
          <p:nvPr/>
        </p:nvSpPr>
        <p:spPr>
          <a:xfrm>
            <a:off x="800100" y="4207700"/>
            <a:ext cx="43338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Needs short, flexible learning sessions</a:t>
            </a:r>
            <a:endParaRPr b="0" i="0" sz="1400" u="none" cap="none" strike="noStrike">
              <a:solidFill>
                <a:srgbClr val="000000"/>
              </a:solidFill>
              <a:latin typeface="Arial"/>
              <a:ea typeface="Arial"/>
              <a:cs typeface="Arial"/>
              <a:sym typeface="Arial"/>
            </a:endParaRPr>
          </a:p>
        </p:txBody>
      </p:sp>
      <p:sp>
        <p:nvSpPr>
          <p:cNvPr id="143" name="Google Shape;143;p4"/>
          <p:cNvSpPr/>
          <p:nvPr/>
        </p:nvSpPr>
        <p:spPr>
          <a:xfrm>
            <a:off x="609600" y="4645850"/>
            <a:ext cx="85800" cy="858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4"/>
          <p:cNvSpPr/>
          <p:nvPr/>
        </p:nvSpPr>
        <p:spPr>
          <a:xfrm>
            <a:off x="800100" y="4569650"/>
            <a:ext cx="43338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6352F"/>
                </a:solidFill>
                <a:latin typeface="Arial"/>
                <a:ea typeface="Arial"/>
                <a:cs typeface="Arial"/>
                <a:sym typeface="Arial"/>
              </a:rPr>
              <a:t>Needs progress tracking and revision support</a:t>
            </a:r>
            <a:endParaRPr b="0" i="0" sz="1400" u="none" cap="none" strike="noStrike">
              <a:solidFill>
                <a:srgbClr val="000000"/>
              </a:solidFill>
              <a:latin typeface="Arial"/>
              <a:ea typeface="Arial"/>
              <a:cs typeface="Arial"/>
              <a:sym typeface="Arial"/>
            </a:endParaRPr>
          </a:p>
        </p:txBody>
      </p:sp>
      <p:pic>
        <p:nvPicPr>
          <p:cNvPr id="145" name="Google Shape;145;p4"/>
          <p:cNvPicPr preferRelativeResize="0"/>
          <p:nvPr/>
        </p:nvPicPr>
        <p:blipFill rotWithShape="1">
          <a:blip r:embed="rId3">
            <a:alphaModFix/>
          </a:blip>
          <a:srcRect b="0" l="0" r="0" t="0"/>
          <a:stretch/>
        </p:blipFill>
        <p:spPr>
          <a:xfrm>
            <a:off x="5051027" y="1819313"/>
            <a:ext cx="6919500" cy="4105200"/>
          </a:xfrm>
          <a:prstGeom prst="roundRect">
            <a:avLst>
              <a:gd fmla="val 3409" name="adj"/>
            </a:avLst>
          </a:prstGeom>
          <a:noFill/>
          <a:ln>
            <a:noFill/>
          </a:ln>
        </p:spPr>
      </p:pic>
      <p:sp>
        <p:nvSpPr>
          <p:cNvPr id="146" name="Google Shape;146;p4"/>
          <p:cNvSpPr/>
          <p:nvPr/>
        </p:nvSpPr>
        <p:spPr>
          <a:xfrm>
            <a:off x="1296525" y="5081638"/>
            <a:ext cx="2095500" cy="561900"/>
          </a:xfrm>
          <a:prstGeom prst="roundRect">
            <a:avLst>
              <a:gd fmla="val 47059" name="adj"/>
            </a:avLst>
          </a:prstGeom>
          <a:solidFill>
            <a:srgbClr val="E7F3EA"/>
          </a:solidFill>
          <a:ln cap="flat" cmpd="sng" w="9525">
            <a:solidFill>
              <a:srgbClr val="E7F3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4"/>
          <p:cNvSpPr/>
          <p:nvPr/>
        </p:nvSpPr>
        <p:spPr>
          <a:xfrm>
            <a:off x="1391775" y="5172088"/>
            <a:ext cx="1905000" cy="190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1" i="0" lang="en-US" sz="975" u="none" cap="none" strike="noStrike">
                <a:solidFill>
                  <a:srgbClr val="294E43"/>
                </a:solidFill>
                <a:latin typeface="Arial"/>
                <a:ea typeface="Arial"/>
                <a:cs typeface="Arial"/>
                <a:sym typeface="Arial"/>
              </a:rPr>
              <a:t>Secondary: Auslan beginners</a:t>
            </a:r>
            <a:endParaRPr b="0" i="0" sz="1400" u="none" cap="none" strike="noStrike">
              <a:solidFill>
                <a:srgbClr val="000000"/>
              </a:solidFill>
              <a:latin typeface="Arial"/>
              <a:ea typeface="Arial"/>
              <a:cs typeface="Arial"/>
              <a:sym typeface="Arial"/>
            </a:endParaRPr>
          </a:p>
        </p:txBody>
      </p:sp>
      <p:sp>
        <p:nvSpPr>
          <p:cNvPr id="148" name="Google Shape;148;p4"/>
          <p:cNvSpPr/>
          <p:nvPr/>
        </p:nvSpPr>
        <p:spPr>
          <a:xfrm>
            <a:off x="963225" y="5796050"/>
            <a:ext cx="2762100" cy="514200"/>
          </a:xfrm>
          <a:prstGeom prst="roundRect">
            <a:avLst>
              <a:gd fmla="val 47059" name="adj"/>
            </a:avLst>
          </a:prstGeom>
          <a:solidFill>
            <a:srgbClr val="E7F3EA"/>
          </a:solidFill>
          <a:ln cap="flat" cmpd="sng" w="9525">
            <a:solidFill>
              <a:srgbClr val="E7F3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
          <p:cNvSpPr/>
          <p:nvPr/>
        </p:nvSpPr>
        <p:spPr>
          <a:xfrm>
            <a:off x="1153425" y="5862725"/>
            <a:ext cx="2571900" cy="190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1" i="0" lang="en-US" sz="975" u="none" cap="none" strike="noStrike">
                <a:solidFill>
                  <a:srgbClr val="294E43"/>
                </a:solidFill>
                <a:latin typeface="Arial"/>
                <a:ea typeface="Arial"/>
                <a:cs typeface="Arial"/>
                <a:sym typeface="Arial"/>
              </a:rPr>
              <a:t>Secondary: accessibility-focused learners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7"/>
        </a:solidFill>
      </p:bgPr>
    </p:bg>
    <p:spTree>
      <p:nvGrpSpPr>
        <p:cNvPr id="154" name="Shape 154"/>
        <p:cNvGrpSpPr/>
        <p:nvPr/>
      </p:nvGrpSpPr>
      <p:grpSpPr>
        <a:xfrm>
          <a:off x="0" y="0"/>
          <a:ext cx="0" cy="0"/>
          <a:chOff x="0" y="0"/>
          <a:chExt cx="0" cy="0"/>
        </a:xfrm>
      </p:grpSpPr>
      <p:sp>
        <p:nvSpPr>
          <p:cNvPr id="155" name="Google Shape;155;p5"/>
          <p:cNvSpPr/>
          <p:nvPr/>
        </p:nvSpPr>
        <p:spPr>
          <a:xfrm>
            <a:off x="609600" y="333375"/>
            <a:ext cx="49530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0</a:t>
            </a:r>
            <a:r>
              <a:rPr b="1" lang="en-US" sz="900">
                <a:solidFill>
                  <a:srgbClr val="6EA284"/>
                </a:solidFill>
              </a:rPr>
              <a:t>6</a:t>
            </a:r>
            <a:r>
              <a:rPr b="1" i="0" lang="en-US" sz="900" u="none" cap="none" strike="noStrike">
                <a:solidFill>
                  <a:srgbClr val="6EA284"/>
                </a:solidFill>
                <a:latin typeface="Arial"/>
                <a:ea typeface="Arial"/>
                <a:cs typeface="Arial"/>
                <a:sym typeface="Arial"/>
              </a:rPr>
              <a:t> · EPICS ACROSS THE SOLUTION</a:t>
            </a:r>
            <a:endParaRPr b="0" i="0" sz="1400" u="none" cap="none" strike="noStrike">
              <a:solidFill>
                <a:srgbClr val="000000"/>
              </a:solidFill>
              <a:latin typeface="Arial"/>
              <a:ea typeface="Arial"/>
              <a:cs typeface="Arial"/>
              <a:sym typeface="Arial"/>
            </a:endParaRPr>
          </a:p>
        </p:txBody>
      </p:sp>
      <p:sp>
        <p:nvSpPr>
          <p:cNvPr id="156" name="Google Shape;156;p5"/>
          <p:cNvSpPr/>
          <p:nvPr/>
        </p:nvSpPr>
        <p:spPr>
          <a:xfrm>
            <a:off x="609600" y="628650"/>
            <a:ext cx="10572750"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294E43"/>
                </a:solidFill>
                <a:latin typeface="Arial"/>
                <a:ea typeface="Arial"/>
                <a:cs typeface="Arial"/>
                <a:sym typeface="Arial"/>
              </a:rPr>
              <a:t>Three iterations build from core learning to personalisation</a:t>
            </a:r>
            <a:endParaRPr b="0" i="0" sz="1400" u="none" cap="none" strike="noStrike">
              <a:solidFill>
                <a:srgbClr val="000000"/>
              </a:solidFill>
              <a:latin typeface="Arial"/>
              <a:ea typeface="Arial"/>
              <a:cs typeface="Arial"/>
              <a:sym typeface="Arial"/>
            </a:endParaRPr>
          </a:p>
        </p:txBody>
      </p:sp>
      <p:sp>
        <p:nvSpPr>
          <p:cNvPr id="157" name="Google Shape;157;p5"/>
          <p:cNvSpPr/>
          <p:nvPr/>
        </p:nvSpPr>
        <p:spPr>
          <a:xfrm>
            <a:off x="609600" y="1200150"/>
            <a:ext cx="10972800" cy="1905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5"/>
          <p:cNvSpPr/>
          <p:nvPr/>
        </p:nvSpPr>
        <p:spPr>
          <a:xfrm>
            <a:off x="609600" y="6524625"/>
            <a:ext cx="47625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65766F"/>
                </a:solidFill>
                <a:latin typeface="Arial"/>
                <a:ea typeface="Arial"/>
                <a:cs typeface="Arial"/>
                <a:sym typeface="Arial"/>
              </a:rPr>
              <a:t>FIT5120  ·  PROPOSAL TO INDUSTRY MENTOR</a:t>
            </a:r>
            <a:endParaRPr b="0" i="0" sz="1400" u="none" cap="none" strike="noStrike">
              <a:solidFill>
                <a:srgbClr val="000000"/>
              </a:solidFill>
              <a:latin typeface="Arial"/>
              <a:ea typeface="Arial"/>
              <a:cs typeface="Arial"/>
              <a:sym typeface="Arial"/>
            </a:endParaRPr>
          </a:p>
        </p:txBody>
      </p:sp>
      <p:sp>
        <p:nvSpPr>
          <p:cNvPr id="159" name="Google Shape;159;p5"/>
          <p:cNvSpPr/>
          <p:nvPr/>
        </p:nvSpPr>
        <p:spPr>
          <a:xfrm>
            <a:off x="11191875" y="6496050"/>
            <a:ext cx="381000" cy="1714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25"/>
              <a:buFont typeface="Arial"/>
              <a:buNone/>
            </a:pPr>
            <a:r>
              <a:rPr b="1" i="0" lang="en-US" sz="825" u="none" cap="none" strike="noStrike">
                <a:solidFill>
                  <a:srgbClr val="6EA284"/>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
        <p:nvSpPr>
          <p:cNvPr id="160" name="Google Shape;160;p5"/>
          <p:cNvSpPr/>
          <p:nvPr/>
        </p:nvSpPr>
        <p:spPr>
          <a:xfrm>
            <a:off x="609600" y="1562100"/>
            <a:ext cx="3371850" cy="3429000"/>
          </a:xfrm>
          <a:prstGeom prst="roundRect">
            <a:avLst>
              <a:gd fmla="val 4520" name="adj"/>
            </a:avLst>
          </a:prstGeom>
          <a:solidFill>
            <a:srgbClr val="E7F3EA"/>
          </a:solidFill>
          <a:ln cap="flat" cmpd="sng" w="9525">
            <a:solidFill>
              <a:srgbClr val="9CC8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5"/>
          <p:cNvSpPr/>
          <p:nvPr/>
        </p:nvSpPr>
        <p:spPr>
          <a:xfrm>
            <a:off x="838200" y="1781175"/>
            <a:ext cx="2857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6EA284"/>
                </a:solidFill>
                <a:latin typeface="Arial"/>
                <a:ea typeface="Arial"/>
                <a:cs typeface="Arial"/>
                <a:sym typeface="Arial"/>
              </a:rPr>
              <a:t>ITERATION 1</a:t>
            </a:r>
            <a:endParaRPr b="0" i="0" sz="1400" u="none" cap="none" strike="noStrike">
              <a:solidFill>
                <a:srgbClr val="000000"/>
              </a:solidFill>
              <a:latin typeface="Arial"/>
              <a:ea typeface="Arial"/>
              <a:cs typeface="Arial"/>
              <a:sym typeface="Arial"/>
            </a:endParaRPr>
          </a:p>
        </p:txBody>
      </p:sp>
      <p:sp>
        <p:nvSpPr>
          <p:cNvPr id="162" name="Google Shape;162;p5"/>
          <p:cNvSpPr/>
          <p:nvPr/>
        </p:nvSpPr>
        <p:spPr>
          <a:xfrm>
            <a:off x="838200" y="2085975"/>
            <a:ext cx="28575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94E43"/>
                </a:solidFill>
                <a:latin typeface="Arial"/>
                <a:ea typeface="Arial"/>
                <a:cs typeface="Arial"/>
                <a:sym typeface="Arial"/>
              </a:rPr>
              <a:t>Learn &amp; practise</a:t>
            </a:r>
            <a:endParaRPr b="0" i="0" sz="1400" u="none" cap="none" strike="noStrike">
              <a:solidFill>
                <a:srgbClr val="000000"/>
              </a:solidFill>
              <a:latin typeface="Arial"/>
              <a:ea typeface="Arial"/>
              <a:cs typeface="Arial"/>
              <a:sym typeface="Arial"/>
            </a:endParaRPr>
          </a:p>
        </p:txBody>
      </p:sp>
      <p:sp>
        <p:nvSpPr>
          <p:cNvPr id="163" name="Google Shape;163;p5"/>
          <p:cNvSpPr/>
          <p:nvPr/>
        </p:nvSpPr>
        <p:spPr>
          <a:xfrm>
            <a:off x="838200" y="2638425"/>
            <a:ext cx="2914650" cy="476250"/>
          </a:xfrm>
          <a:prstGeom prst="roundRect">
            <a:avLst>
              <a:gd fmla="val 16000"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
          <p:cNvSpPr/>
          <p:nvPr/>
        </p:nvSpPr>
        <p:spPr>
          <a:xfrm>
            <a:off x="971550" y="2781300"/>
            <a:ext cx="30099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26352F"/>
                </a:solidFill>
                <a:latin typeface="Arial"/>
                <a:ea typeface="Arial"/>
                <a:cs typeface="Arial"/>
                <a:sym typeface="Arial"/>
              </a:rPr>
              <a:t>Epic 1 · Auslan sign library and search</a:t>
            </a:r>
            <a:endParaRPr b="1" i="0" sz="1125" u="none" cap="none" strike="noStrike">
              <a:solidFill>
                <a:srgbClr val="26352F"/>
              </a:solidFill>
              <a:latin typeface="Arial"/>
              <a:ea typeface="Arial"/>
              <a:cs typeface="Arial"/>
              <a:sym typeface="Arial"/>
            </a:endParaRPr>
          </a:p>
        </p:txBody>
      </p:sp>
      <p:sp>
        <p:nvSpPr>
          <p:cNvPr id="165" name="Google Shape;165;p5"/>
          <p:cNvSpPr/>
          <p:nvPr/>
        </p:nvSpPr>
        <p:spPr>
          <a:xfrm>
            <a:off x="838200" y="3305175"/>
            <a:ext cx="2914650" cy="476250"/>
          </a:xfrm>
          <a:prstGeom prst="roundRect">
            <a:avLst>
              <a:gd fmla="val 16000"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5"/>
          <p:cNvSpPr/>
          <p:nvPr/>
        </p:nvSpPr>
        <p:spPr>
          <a:xfrm>
            <a:off x="971550" y="3448050"/>
            <a:ext cx="264795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26352F"/>
                </a:solidFill>
                <a:latin typeface="Arial"/>
                <a:ea typeface="Arial"/>
                <a:cs typeface="Arial"/>
                <a:sym typeface="Arial"/>
              </a:rPr>
              <a:t>Epic 2 · Guided sign learning</a:t>
            </a:r>
            <a:endParaRPr b="0" i="0" sz="1400" u="none" cap="none" strike="noStrike">
              <a:solidFill>
                <a:srgbClr val="000000"/>
              </a:solidFill>
              <a:latin typeface="Arial"/>
              <a:ea typeface="Arial"/>
              <a:cs typeface="Arial"/>
              <a:sym typeface="Arial"/>
            </a:endParaRPr>
          </a:p>
        </p:txBody>
      </p:sp>
      <p:sp>
        <p:nvSpPr>
          <p:cNvPr id="167" name="Google Shape;167;p5"/>
          <p:cNvSpPr/>
          <p:nvPr/>
        </p:nvSpPr>
        <p:spPr>
          <a:xfrm>
            <a:off x="838200" y="3971925"/>
            <a:ext cx="2914650" cy="476250"/>
          </a:xfrm>
          <a:prstGeom prst="roundRect">
            <a:avLst>
              <a:gd fmla="val 16000"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5"/>
          <p:cNvSpPr/>
          <p:nvPr/>
        </p:nvSpPr>
        <p:spPr>
          <a:xfrm>
            <a:off x="971550" y="4143288"/>
            <a:ext cx="3235800" cy="209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26352F"/>
                </a:solidFill>
                <a:latin typeface="Arial"/>
                <a:ea typeface="Arial"/>
                <a:cs typeface="Arial"/>
                <a:sym typeface="Arial"/>
              </a:rPr>
              <a:t>Epic 3 · Basic quiz &amp; self-check</a:t>
            </a:r>
            <a:endParaRPr b="1" i="0" sz="1125" u="none" cap="none" strike="noStrike">
              <a:solidFill>
                <a:srgbClr val="26352F"/>
              </a:solidFill>
              <a:latin typeface="Arial"/>
              <a:ea typeface="Arial"/>
              <a:cs typeface="Arial"/>
              <a:sym typeface="Arial"/>
            </a:endParaRPr>
          </a:p>
        </p:txBody>
      </p:sp>
      <p:sp>
        <p:nvSpPr>
          <p:cNvPr id="169" name="Google Shape;169;p5"/>
          <p:cNvSpPr/>
          <p:nvPr/>
        </p:nvSpPr>
        <p:spPr>
          <a:xfrm>
            <a:off x="4314825" y="1562100"/>
            <a:ext cx="3371850" cy="3429000"/>
          </a:xfrm>
          <a:prstGeom prst="roundRect">
            <a:avLst>
              <a:gd fmla="val 4520"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
          <p:cNvSpPr/>
          <p:nvPr/>
        </p:nvSpPr>
        <p:spPr>
          <a:xfrm>
            <a:off x="4543425" y="1781175"/>
            <a:ext cx="2857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6EA284"/>
                </a:solidFill>
                <a:latin typeface="Arial"/>
                <a:ea typeface="Arial"/>
                <a:cs typeface="Arial"/>
                <a:sym typeface="Arial"/>
              </a:rPr>
              <a:t>ITERATION 2</a:t>
            </a:r>
            <a:endParaRPr b="0" i="0" sz="1400" u="none" cap="none" strike="noStrike">
              <a:solidFill>
                <a:srgbClr val="000000"/>
              </a:solidFill>
              <a:latin typeface="Arial"/>
              <a:ea typeface="Arial"/>
              <a:cs typeface="Arial"/>
              <a:sym typeface="Arial"/>
            </a:endParaRPr>
          </a:p>
        </p:txBody>
      </p:sp>
      <p:sp>
        <p:nvSpPr>
          <p:cNvPr id="171" name="Google Shape;171;p5"/>
          <p:cNvSpPr/>
          <p:nvPr/>
        </p:nvSpPr>
        <p:spPr>
          <a:xfrm>
            <a:off x="4543425" y="2085975"/>
            <a:ext cx="28575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94E43"/>
                </a:solidFill>
                <a:latin typeface="Arial"/>
                <a:ea typeface="Arial"/>
                <a:cs typeface="Arial"/>
                <a:sym typeface="Arial"/>
              </a:rPr>
              <a:t>Improve accessibility</a:t>
            </a:r>
            <a:endParaRPr b="0" i="0" sz="1400" u="none" cap="none" strike="noStrike">
              <a:solidFill>
                <a:srgbClr val="000000"/>
              </a:solidFill>
              <a:latin typeface="Arial"/>
              <a:ea typeface="Arial"/>
              <a:cs typeface="Arial"/>
              <a:sym typeface="Arial"/>
            </a:endParaRPr>
          </a:p>
        </p:txBody>
      </p:sp>
      <p:sp>
        <p:nvSpPr>
          <p:cNvPr id="172" name="Google Shape;172;p5"/>
          <p:cNvSpPr/>
          <p:nvPr/>
        </p:nvSpPr>
        <p:spPr>
          <a:xfrm>
            <a:off x="4543425" y="2638425"/>
            <a:ext cx="2914650" cy="476250"/>
          </a:xfrm>
          <a:prstGeom prst="roundRect">
            <a:avLst>
              <a:gd fmla="val 16000"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5"/>
          <p:cNvSpPr/>
          <p:nvPr/>
        </p:nvSpPr>
        <p:spPr>
          <a:xfrm>
            <a:off x="4638600" y="2743125"/>
            <a:ext cx="2914800" cy="209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26352F"/>
                </a:solidFill>
                <a:latin typeface="Arial"/>
                <a:ea typeface="Arial"/>
                <a:cs typeface="Arial"/>
                <a:sym typeface="Arial"/>
              </a:rPr>
              <a:t>Epic 4 · AI sign recognition &amp; feedback</a:t>
            </a:r>
            <a:endParaRPr b="0" i="0" sz="1400" u="none" cap="none" strike="noStrike">
              <a:solidFill>
                <a:srgbClr val="000000"/>
              </a:solidFill>
              <a:latin typeface="Arial"/>
              <a:ea typeface="Arial"/>
              <a:cs typeface="Arial"/>
              <a:sym typeface="Arial"/>
            </a:endParaRPr>
          </a:p>
        </p:txBody>
      </p:sp>
      <p:sp>
        <p:nvSpPr>
          <p:cNvPr id="174" name="Google Shape;174;p5"/>
          <p:cNvSpPr/>
          <p:nvPr/>
        </p:nvSpPr>
        <p:spPr>
          <a:xfrm>
            <a:off x="4543425" y="3305175"/>
            <a:ext cx="2914650" cy="476250"/>
          </a:xfrm>
          <a:prstGeom prst="roundRect">
            <a:avLst>
              <a:gd fmla="val 16000"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5"/>
          <p:cNvSpPr/>
          <p:nvPr/>
        </p:nvSpPr>
        <p:spPr>
          <a:xfrm>
            <a:off x="4676775" y="3429000"/>
            <a:ext cx="2648100" cy="209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26352F"/>
                </a:solidFill>
                <a:latin typeface="Arial"/>
                <a:ea typeface="Arial"/>
                <a:cs typeface="Arial"/>
                <a:sym typeface="Arial"/>
              </a:rPr>
              <a:t>Epic 5 · Personalised learning</a:t>
            </a:r>
            <a:endParaRPr b="0" i="0" sz="1400" u="none" cap="none" strike="noStrike">
              <a:solidFill>
                <a:srgbClr val="000000"/>
              </a:solidFill>
              <a:latin typeface="Arial"/>
              <a:ea typeface="Arial"/>
              <a:cs typeface="Arial"/>
              <a:sym typeface="Arial"/>
            </a:endParaRPr>
          </a:p>
        </p:txBody>
      </p:sp>
      <p:sp>
        <p:nvSpPr>
          <p:cNvPr id="176" name="Google Shape;176;p5"/>
          <p:cNvSpPr/>
          <p:nvPr/>
        </p:nvSpPr>
        <p:spPr>
          <a:xfrm>
            <a:off x="8020050" y="1562100"/>
            <a:ext cx="3372000" cy="3429000"/>
          </a:xfrm>
          <a:prstGeom prst="roundRect">
            <a:avLst>
              <a:gd fmla="val 4520"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5"/>
          <p:cNvSpPr/>
          <p:nvPr/>
        </p:nvSpPr>
        <p:spPr>
          <a:xfrm>
            <a:off x="8248650" y="1781175"/>
            <a:ext cx="2857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6EA284"/>
                </a:solidFill>
                <a:latin typeface="Arial"/>
                <a:ea typeface="Arial"/>
                <a:cs typeface="Arial"/>
                <a:sym typeface="Arial"/>
              </a:rPr>
              <a:t>ITERATION 3</a:t>
            </a:r>
            <a:endParaRPr b="0" i="0" sz="1400" u="none" cap="none" strike="noStrike">
              <a:solidFill>
                <a:srgbClr val="000000"/>
              </a:solidFill>
              <a:latin typeface="Arial"/>
              <a:ea typeface="Arial"/>
              <a:cs typeface="Arial"/>
              <a:sym typeface="Arial"/>
            </a:endParaRPr>
          </a:p>
        </p:txBody>
      </p:sp>
      <p:sp>
        <p:nvSpPr>
          <p:cNvPr id="178" name="Google Shape;178;p5"/>
          <p:cNvSpPr/>
          <p:nvPr/>
        </p:nvSpPr>
        <p:spPr>
          <a:xfrm>
            <a:off x="8248650" y="2085975"/>
            <a:ext cx="28575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94E43"/>
                </a:solidFill>
                <a:latin typeface="Arial"/>
                <a:ea typeface="Arial"/>
                <a:cs typeface="Arial"/>
                <a:sym typeface="Arial"/>
              </a:rPr>
              <a:t>Personalise learning</a:t>
            </a:r>
            <a:endParaRPr b="0" i="0" sz="1400" u="none" cap="none" strike="noStrike">
              <a:solidFill>
                <a:srgbClr val="000000"/>
              </a:solidFill>
              <a:latin typeface="Arial"/>
              <a:ea typeface="Arial"/>
              <a:cs typeface="Arial"/>
              <a:sym typeface="Arial"/>
            </a:endParaRPr>
          </a:p>
        </p:txBody>
      </p:sp>
      <p:sp>
        <p:nvSpPr>
          <p:cNvPr id="179" name="Google Shape;179;p5"/>
          <p:cNvSpPr/>
          <p:nvPr/>
        </p:nvSpPr>
        <p:spPr>
          <a:xfrm>
            <a:off x="8248650" y="2638425"/>
            <a:ext cx="2914800" cy="666900"/>
          </a:xfrm>
          <a:prstGeom prst="roundRect">
            <a:avLst>
              <a:gd fmla="val 16000"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5"/>
          <p:cNvSpPr/>
          <p:nvPr/>
        </p:nvSpPr>
        <p:spPr>
          <a:xfrm>
            <a:off x="8248650" y="2733675"/>
            <a:ext cx="2857500" cy="47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26352F"/>
                </a:solidFill>
                <a:latin typeface="Arial"/>
                <a:ea typeface="Arial"/>
                <a:cs typeface="Arial"/>
                <a:sym typeface="Arial"/>
              </a:rPr>
              <a:t>Epic 6 · Family mode for parent-child signing</a:t>
            </a:r>
            <a:endParaRPr b="0" i="0" sz="1400" u="none" cap="none" strike="noStrike">
              <a:solidFill>
                <a:srgbClr val="000000"/>
              </a:solidFill>
              <a:latin typeface="Arial"/>
              <a:ea typeface="Arial"/>
              <a:cs typeface="Arial"/>
              <a:sym typeface="Arial"/>
            </a:endParaRPr>
          </a:p>
        </p:txBody>
      </p:sp>
      <p:sp>
        <p:nvSpPr>
          <p:cNvPr id="181" name="Google Shape;181;p5"/>
          <p:cNvSpPr/>
          <p:nvPr/>
        </p:nvSpPr>
        <p:spPr>
          <a:xfrm>
            <a:off x="8248650" y="3448050"/>
            <a:ext cx="2914800" cy="476400"/>
          </a:xfrm>
          <a:prstGeom prst="roundRect">
            <a:avLst>
              <a:gd fmla="val 16000"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
          <p:cNvSpPr/>
          <p:nvPr/>
        </p:nvSpPr>
        <p:spPr>
          <a:xfrm>
            <a:off x="8248650" y="3552975"/>
            <a:ext cx="2648100" cy="209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26352F"/>
                </a:solidFill>
                <a:latin typeface="Arial"/>
                <a:ea typeface="Arial"/>
                <a:cs typeface="Arial"/>
                <a:sym typeface="Arial"/>
              </a:rPr>
              <a:t>Epic 7 · Real-life conversation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7"/>
        </a:solidFill>
      </p:bgPr>
    </p:bg>
    <p:spTree>
      <p:nvGrpSpPr>
        <p:cNvPr id="187" name="Shape 187"/>
        <p:cNvGrpSpPr/>
        <p:nvPr/>
      </p:nvGrpSpPr>
      <p:grpSpPr>
        <a:xfrm>
          <a:off x="0" y="0"/>
          <a:ext cx="0" cy="0"/>
          <a:chOff x="0" y="0"/>
          <a:chExt cx="0" cy="0"/>
        </a:xfrm>
      </p:grpSpPr>
      <p:sp>
        <p:nvSpPr>
          <p:cNvPr id="188" name="Google Shape;188;g3fac1166822_6_1"/>
          <p:cNvSpPr/>
          <p:nvPr/>
        </p:nvSpPr>
        <p:spPr>
          <a:xfrm>
            <a:off x="609600" y="333375"/>
            <a:ext cx="4953000" cy="209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rgbClr val="6EA284"/>
                </a:solidFill>
              </a:rPr>
              <a:t>05 · HOW THE SYSTEM WORKS</a:t>
            </a:r>
            <a:endParaRPr/>
          </a:p>
        </p:txBody>
      </p:sp>
      <p:sp>
        <p:nvSpPr>
          <p:cNvPr id="189" name="Google Shape;189;g3fac1166822_6_1"/>
          <p:cNvSpPr/>
          <p:nvPr/>
        </p:nvSpPr>
        <p:spPr>
          <a:xfrm>
            <a:off x="609600" y="628650"/>
            <a:ext cx="10572900" cy="514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700"/>
              <a:t>High-level System Diagram </a:t>
            </a:r>
            <a:endParaRPr b="1" sz="2700"/>
          </a:p>
        </p:txBody>
      </p:sp>
      <p:sp>
        <p:nvSpPr>
          <p:cNvPr id="190" name="Google Shape;190;g3fac1166822_6_1"/>
          <p:cNvSpPr/>
          <p:nvPr/>
        </p:nvSpPr>
        <p:spPr>
          <a:xfrm>
            <a:off x="609600" y="1200150"/>
            <a:ext cx="10972800" cy="1920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fac1166822_6_1"/>
          <p:cNvSpPr/>
          <p:nvPr/>
        </p:nvSpPr>
        <p:spPr>
          <a:xfrm>
            <a:off x="609600" y="6524625"/>
            <a:ext cx="4762500" cy="152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750">
                <a:solidFill>
                  <a:srgbClr val="65766F"/>
                </a:solidFill>
              </a:rPr>
              <a:t>FIT5120  ·  PROPOSAL TO INDUSTRY MENTOR</a:t>
            </a:r>
            <a:endParaRPr/>
          </a:p>
        </p:txBody>
      </p:sp>
      <p:sp>
        <p:nvSpPr>
          <p:cNvPr id="192" name="Google Shape;192;g3fac1166822_6_1"/>
          <p:cNvSpPr/>
          <p:nvPr/>
        </p:nvSpPr>
        <p:spPr>
          <a:xfrm>
            <a:off x="10441875" y="5476600"/>
            <a:ext cx="3810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625">
                <a:solidFill>
                  <a:srgbClr val="6EA284"/>
                </a:solidFill>
              </a:rPr>
              <a:t>06</a:t>
            </a:r>
            <a:endParaRPr sz="1200"/>
          </a:p>
        </p:txBody>
      </p:sp>
      <p:sp>
        <p:nvSpPr>
          <p:cNvPr id="193" name="Google Shape;193;g3fac1166822_6_1"/>
          <p:cNvSpPr/>
          <p:nvPr/>
        </p:nvSpPr>
        <p:spPr>
          <a:xfrm>
            <a:off x="8184300" y="1467900"/>
            <a:ext cx="4992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rgbClr val="6EA284"/>
                </a:solidFill>
              </a:rPr>
              <a:t>1</a:t>
            </a:r>
            <a:endParaRPr/>
          </a:p>
        </p:txBody>
      </p:sp>
      <p:sp>
        <p:nvSpPr>
          <p:cNvPr id="194" name="Google Shape;194;g3fac1166822_6_1"/>
          <p:cNvSpPr/>
          <p:nvPr/>
        </p:nvSpPr>
        <p:spPr>
          <a:xfrm>
            <a:off x="8522399" y="1453750"/>
            <a:ext cx="29196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294E43"/>
                </a:solidFill>
              </a:rPr>
              <a:t>User turns on webcam</a:t>
            </a:r>
            <a:endParaRPr sz="1200"/>
          </a:p>
        </p:txBody>
      </p:sp>
      <p:sp>
        <p:nvSpPr>
          <p:cNvPr id="195" name="Google Shape;195;g3fac1166822_6_1"/>
          <p:cNvSpPr/>
          <p:nvPr/>
        </p:nvSpPr>
        <p:spPr>
          <a:xfrm>
            <a:off x="8323653" y="1763175"/>
            <a:ext cx="24993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196" name="Google Shape;196;g3fac1166822_6_1"/>
          <p:cNvSpPr/>
          <p:nvPr/>
        </p:nvSpPr>
        <p:spPr>
          <a:xfrm>
            <a:off x="8184300" y="2019025"/>
            <a:ext cx="4992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rgbClr val="6EA284"/>
                </a:solidFill>
              </a:rPr>
              <a:t>2</a:t>
            </a:r>
            <a:endParaRPr/>
          </a:p>
        </p:txBody>
      </p:sp>
      <p:sp>
        <p:nvSpPr>
          <p:cNvPr id="197" name="Google Shape;197;g3fac1166822_6_1"/>
          <p:cNvSpPr/>
          <p:nvPr/>
        </p:nvSpPr>
        <p:spPr>
          <a:xfrm>
            <a:off x="8522399" y="2011938"/>
            <a:ext cx="29196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294E43"/>
                </a:solidFill>
              </a:rPr>
              <a:t>Performs a sign</a:t>
            </a:r>
            <a:endParaRPr sz="1200"/>
          </a:p>
        </p:txBody>
      </p:sp>
      <p:sp>
        <p:nvSpPr>
          <p:cNvPr id="198" name="Google Shape;198;g3fac1166822_6_1"/>
          <p:cNvSpPr/>
          <p:nvPr/>
        </p:nvSpPr>
        <p:spPr>
          <a:xfrm>
            <a:off x="8323653" y="2314300"/>
            <a:ext cx="24993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199" name="Google Shape;199;g3fac1166822_6_1"/>
          <p:cNvSpPr/>
          <p:nvPr/>
        </p:nvSpPr>
        <p:spPr>
          <a:xfrm>
            <a:off x="8184300" y="2714350"/>
            <a:ext cx="4992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rgbClr val="6EA284"/>
                </a:solidFill>
              </a:rPr>
              <a:t>3</a:t>
            </a:r>
            <a:endParaRPr/>
          </a:p>
        </p:txBody>
      </p:sp>
      <p:sp>
        <p:nvSpPr>
          <p:cNvPr id="200" name="Google Shape;200;g3fac1166822_6_1"/>
          <p:cNvSpPr/>
          <p:nvPr/>
        </p:nvSpPr>
        <p:spPr>
          <a:xfrm>
            <a:off x="8522400" y="2533413"/>
            <a:ext cx="2310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294E43"/>
                </a:solidFill>
              </a:rPr>
              <a:t>Camera Capture grabs the frame</a:t>
            </a:r>
            <a:endParaRPr sz="1200"/>
          </a:p>
        </p:txBody>
      </p:sp>
      <p:sp>
        <p:nvSpPr>
          <p:cNvPr id="201" name="Google Shape;201;g3fac1166822_6_1"/>
          <p:cNvSpPr/>
          <p:nvPr/>
        </p:nvSpPr>
        <p:spPr>
          <a:xfrm>
            <a:off x="8323653" y="3009625"/>
            <a:ext cx="24993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02" name="Google Shape;202;g3fac1166822_6_1"/>
          <p:cNvSpPr/>
          <p:nvPr/>
        </p:nvSpPr>
        <p:spPr>
          <a:xfrm>
            <a:off x="8184300" y="3409675"/>
            <a:ext cx="4992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rgbClr val="6EA284"/>
                </a:solidFill>
              </a:rPr>
              <a:t>4</a:t>
            </a:r>
            <a:endParaRPr/>
          </a:p>
        </p:txBody>
      </p:sp>
      <p:sp>
        <p:nvSpPr>
          <p:cNvPr id="203" name="Google Shape;203;g3fac1166822_6_1"/>
          <p:cNvSpPr/>
          <p:nvPr/>
        </p:nvSpPr>
        <p:spPr>
          <a:xfrm>
            <a:off x="8522400" y="3228750"/>
            <a:ext cx="2310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294E43"/>
                </a:solidFill>
              </a:rPr>
              <a:t>MediaPipe extracts hand/pose landmarks</a:t>
            </a:r>
            <a:endParaRPr sz="1200"/>
          </a:p>
        </p:txBody>
      </p:sp>
      <p:sp>
        <p:nvSpPr>
          <p:cNvPr id="204" name="Google Shape;204;g3fac1166822_6_1"/>
          <p:cNvSpPr/>
          <p:nvPr/>
        </p:nvSpPr>
        <p:spPr>
          <a:xfrm>
            <a:off x="8323653" y="3805025"/>
            <a:ext cx="24993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05" name="Google Shape;205;g3fac1166822_6_1"/>
          <p:cNvSpPr/>
          <p:nvPr/>
        </p:nvSpPr>
        <p:spPr>
          <a:xfrm>
            <a:off x="8184300" y="3977788"/>
            <a:ext cx="4992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rgbClr val="6EA284"/>
                </a:solidFill>
              </a:rPr>
              <a:t>5</a:t>
            </a:r>
            <a:endParaRPr/>
          </a:p>
        </p:txBody>
      </p:sp>
      <p:sp>
        <p:nvSpPr>
          <p:cNvPr id="206" name="Google Shape;206;g3fac1166822_6_1"/>
          <p:cNvSpPr/>
          <p:nvPr/>
        </p:nvSpPr>
        <p:spPr>
          <a:xfrm>
            <a:off x="8522400" y="3924075"/>
            <a:ext cx="2310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294E43"/>
                </a:solidFill>
              </a:rPr>
              <a:t>Rest-Pose Segmentation marks start/end of the sign</a:t>
            </a:r>
            <a:endParaRPr sz="1200"/>
          </a:p>
        </p:txBody>
      </p:sp>
      <p:sp>
        <p:nvSpPr>
          <p:cNvPr id="207" name="Google Shape;207;g3fac1166822_6_1"/>
          <p:cNvSpPr/>
          <p:nvPr/>
        </p:nvSpPr>
        <p:spPr>
          <a:xfrm>
            <a:off x="8323653" y="4454113"/>
            <a:ext cx="24993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08" name="Google Shape;208;g3fac1166822_6_1"/>
          <p:cNvSpPr/>
          <p:nvPr/>
        </p:nvSpPr>
        <p:spPr>
          <a:xfrm>
            <a:off x="8184300" y="4725238"/>
            <a:ext cx="4992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rgbClr val="6EA284"/>
                </a:solidFill>
              </a:rPr>
              <a:t>6</a:t>
            </a:r>
            <a:endParaRPr/>
          </a:p>
        </p:txBody>
      </p:sp>
      <p:sp>
        <p:nvSpPr>
          <p:cNvPr id="209" name="Google Shape;209;g3fac1166822_6_1"/>
          <p:cNvSpPr/>
          <p:nvPr/>
        </p:nvSpPr>
        <p:spPr>
          <a:xfrm>
            <a:off x="8522400" y="4526913"/>
            <a:ext cx="2310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294E43"/>
                </a:solidFill>
              </a:rPr>
              <a:t>DTW Scoring compares against cached reference template</a:t>
            </a:r>
            <a:endParaRPr sz="1200"/>
          </a:p>
        </p:txBody>
      </p:sp>
      <p:sp>
        <p:nvSpPr>
          <p:cNvPr id="210" name="Google Shape;210;g3fac1166822_6_1"/>
          <p:cNvSpPr/>
          <p:nvPr/>
        </p:nvSpPr>
        <p:spPr>
          <a:xfrm>
            <a:off x="8323653" y="5239075"/>
            <a:ext cx="24993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11" name="Google Shape;211;g3fac1166822_6_1"/>
          <p:cNvSpPr/>
          <p:nvPr/>
        </p:nvSpPr>
        <p:spPr>
          <a:xfrm>
            <a:off x="8184300" y="5393925"/>
            <a:ext cx="4992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rgbClr val="6EA284"/>
                </a:solidFill>
              </a:rPr>
              <a:t>7</a:t>
            </a:r>
            <a:endParaRPr/>
          </a:p>
        </p:txBody>
      </p:sp>
      <p:sp>
        <p:nvSpPr>
          <p:cNvPr id="212" name="Google Shape;212;g3fac1166822_6_1"/>
          <p:cNvSpPr/>
          <p:nvPr/>
        </p:nvSpPr>
        <p:spPr>
          <a:xfrm>
            <a:off x="8457099" y="5403538"/>
            <a:ext cx="29196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294E43"/>
                </a:solidFill>
              </a:rPr>
              <a:t> Overlay renders feedback</a:t>
            </a:r>
            <a:endParaRPr sz="1200"/>
          </a:p>
        </p:txBody>
      </p:sp>
      <p:sp>
        <p:nvSpPr>
          <p:cNvPr id="213" name="Google Shape;213;g3fac1166822_6_1"/>
          <p:cNvSpPr/>
          <p:nvPr/>
        </p:nvSpPr>
        <p:spPr>
          <a:xfrm>
            <a:off x="8323653" y="5825100"/>
            <a:ext cx="2499300" cy="9600"/>
          </a:xfrm>
          <a:prstGeom prst="rect">
            <a:avLst/>
          </a:prstGeom>
          <a:solidFill>
            <a:srgbClr val="C8DDD0"/>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pic>
        <p:nvPicPr>
          <p:cNvPr id="214" name="Google Shape;214;g3fac1166822_6_1" title="sign_language_prototype_architecture_core.png"/>
          <p:cNvPicPr preferRelativeResize="0"/>
          <p:nvPr/>
        </p:nvPicPr>
        <p:blipFill>
          <a:blip r:embed="rId3">
            <a:alphaModFix/>
          </a:blip>
          <a:stretch>
            <a:fillRect/>
          </a:stretch>
        </p:blipFill>
        <p:spPr>
          <a:xfrm>
            <a:off x="609600" y="1276350"/>
            <a:ext cx="7344988" cy="45583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7"/>
        </a:solidFill>
      </p:bgPr>
    </p:bg>
    <p:spTree>
      <p:nvGrpSpPr>
        <p:cNvPr id="219" name="Shape 219"/>
        <p:cNvGrpSpPr/>
        <p:nvPr/>
      </p:nvGrpSpPr>
      <p:grpSpPr>
        <a:xfrm>
          <a:off x="0" y="0"/>
          <a:ext cx="0" cy="0"/>
          <a:chOff x="0" y="0"/>
          <a:chExt cx="0" cy="0"/>
        </a:xfrm>
      </p:grpSpPr>
      <p:sp>
        <p:nvSpPr>
          <p:cNvPr id="220" name="Google Shape;220;p7"/>
          <p:cNvSpPr/>
          <p:nvPr/>
        </p:nvSpPr>
        <p:spPr>
          <a:xfrm>
            <a:off x="609600" y="333375"/>
            <a:ext cx="49530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07 · HIGH-LEVEL PROTOTYPE</a:t>
            </a:r>
            <a:endParaRPr b="0" i="0" sz="1400" u="none" cap="none" strike="noStrike">
              <a:solidFill>
                <a:srgbClr val="000000"/>
              </a:solidFill>
              <a:latin typeface="Arial"/>
              <a:ea typeface="Arial"/>
              <a:cs typeface="Arial"/>
              <a:sym typeface="Arial"/>
            </a:endParaRPr>
          </a:p>
        </p:txBody>
      </p:sp>
      <p:sp>
        <p:nvSpPr>
          <p:cNvPr id="221" name="Google Shape;221;p7"/>
          <p:cNvSpPr/>
          <p:nvPr/>
        </p:nvSpPr>
        <p:spPr>
          <a:xfrm>
            <a:off x="609600" y="628650"/>
            <a:ext cx="10572750"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294E43"/>
                </a:solidFill>
                <a:latin typeface="Arial"/>
                <a:ea typeface="Arial"/>
                <a:cs typeface="Arial"/>
                <a:sym typeface="Arial"/>
              </a:rPr>
              <a:t>Iteration 1 follows a simple learn–practise–feedback journey</a:t>
            </a:r>
            <a:endParaRPr b="0" i="0" sz="1400" u="none" cap="none" strike="noStrike">
              <a:solidFill>
                <a:srgbClr val="000000"/>
              </a:solidFill>
              <a:latin typeface="Arial"/>
              <a:ea typeface="Arial"/>
              <a:cs typeface="Arial"/>
              <a:sym typeface="Arial"/>
            </a:endParaRPr>
          </a:p>
        </p:txBody>
      </p:sp>
      <p:sp>
        <p:nvSpPr>
          <p:cNvPr id="222" name="Google Shape;222;p7"/>
          <p:cNvSpPr/>
          <p:nvPr/>
        </p:nvSpPr>
        <p:spPr>
          <a:xfrm>
            <a:off x="609600" y="1200150"/>
            <a:ext cx="10972800" cy="1905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7"/>
          <p:cNvSpPr/>
          <p:nvPr/>
        </p:nvSpPr>
        <p:spPr>
          <a:xfrm>
            <a:off x="609600" y="6524625"/>
            <a:ext cx="47625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65766F"/>
                </a:solidFill>
                <a:latin typeface="Arial"/>
                <a:ea typeface="Arial"/>
                <a:cs typeface="Arial"/>
                <a:sym typeface="Arial"/>
              </a:rPr>
              <a:t>FIT5120  ·  PROPOSAL TO INDUSTRY MENTOR</a:t>
            </a:r>
            <a:endParaRPr b="0" i="0" sz="1400" u="none" cap="none" strike="noStrike">
              <a:solidFill>
                <a:srgbClr val="000000"/>
              </a:solidFill>
              <a:latin typeface="Arial"/>
              <a:ea typeface="Arial"/>
              <a:cs typeface="Arial"/>
              <a:sym typeface="Arial"/>
            </a:endParaRPr>
          </a:p>
        </p:txBody>
      </p:sp>
      <p:sp>
        <p:nvSpPr>
          <p:cNvPr id="224" name="Google Shape;224;p7"/>
          <p:cNvSpPr/>
          <p:nvPr/>
        </p:nvSpPr>
        <p:spPr>
          <a:xfrm>
            <a:off x="11191875" y="6496050"/>
            <a:ext cx="381000" cy="1714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25"/>
              <a:buFont typeface="Arial"/>
              <a:buNone/>
            </a:pPr>
            <a:r>
              <a:rPr b="1" i="0" lang="en-US" sz="825" u="none" cap="none" strike="noStrike">
                <a:solidFill>
                  <a:srgbClr val="6EA284"/>
                </a:solidFill>
                <a:latin typeface="Arial"/>
                <a:ea typeface="Arial"/>
                <a:cs typeface="Arial"/>
                <a:sym typeface="Arial"/>
              </a:rPr>
              <a:t>07</a:t>
            </a:r>
            <a:endParaRPr b="0" i="0" sz="1400" u="none" cap="none" strike="noStrike">
              <a:solidFill>
                <a:srgbClr val="000000"/>
              </a:solidFill>
              <a:latin typeface="Arial"/>
              <a:ea typeface="Arial"/>
              <a:cs typeface="Arial"/>
              <a:sym typeface="Arial"/>
            </a:endParaRPr>
          </a:p>
        </p:txBody>
      </p:sp>
      <p:sp>
        <p:nvSpPr>
          <p:cNvPr id="225" name="Google Shape;225;p7"/>
          <p:cNvSpPr/>
          <p:nvPr/>
        </p:nvSpPr>
        <p:spPr>
          <a:xfrm>
            <a:off x="609600" y="1600200"/>
            <a:ext cx="2400300" cy="4562700"/>
          </a:xfrm>
          <a:prstGeom prst="roundRect">
            <a:avLst>
              <a:gd fmla="val 6349" name="adj"/>
            </a:avLst>
          </a:prstGeom>
          <a:solidFill>
            <a:srgbClr val="FFFFFF"/>
          </a:solidFill>
          <a:ln cap="flat" cmpd="sng" w="9525">
            <a:solidFill>
              <a:srgbClr val="9CC8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7"/>
          <p:cNvSpPr/>
          <p:nvPr/>
        </p:nvSpPr>
        <p:spPr>
          <a:xfrm>
            <a:off x="781050" y="1809750"/>
            <a:ext cx="2057400" cy="3619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294E43"/>
                </a:solidFill>
                <a:latin typeface="Arial"/>
                <a:ea typeface="Arial"/>
                <a:cs typeface="Arial"/>
                <a:sym typeface="Arial"/>
              </a:rPr>
              <a:t>1 · HOME / SIGN LIBRARY</a:t>
            </a:r>
            <a:endParaRPr b="0" i="0" sz="1400" u="none" cap="none" strike="noStrike">
              <a:solidFill>
                <a:srgbClr val="000000"/>
              </a:solidFill>
              <a:latin typeface="Arial"/>
              <a:ea typeface="Arial"/>
              <a:cs typeface="Arial"/>
              <a:sym typeface="Arial"/>
            </a:endParaRPr>
          </a:p>
        </p:txBody>
      </p:sp>
      <p:sp>
        <p:nvSpPr>
          <p:cNvPr id="227" name="Google Shape;227;p7"/>
          <p:cNvSpPr/>
          <p:nvPr/>
        </p:nvSpPr>
        <p:spPr>
          <a:xfrm>
            <a:off x="819150" y="2333625"/>
            <a:ext cx="1981200" cy="1790700"/>
          </a:xfrm>
          <a:prstGeom prst="roundRect">
            <a:avLst>
              <a:gd fmla="val 6383" name="adj"/>
            </a:avLst>
          </a:prstGeom>
          <a:solidFill>
            <a:srgbClr val="FFF8E7"/>
          </a:solidFill>
          <a:ln cap="flat" cmpd="sng" w="9525">
            <a:solidFill>
              <a:srgbClr val="E7BE7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7"/>
          <p:cNvSpPr/>
          <p:nvPr/>
        </p:nvSpPr>
        <p:spPr>
          <a:xfrm>
            <a:off x="4976800" y="1600200"/>
            <a:ext cx="2400300" cy="4562700"/>
          </a:xfrm>
          <a:prstGeom prst="roundRect">
            <a:avLst>
              <a:gd fmla="val 6349" name="adj"/>
            </a:avLst>
          </a:prstGeom>
          <a:solidFill>
            <a:srgbClr val="FFFFFF"/>
          </a:solidFill>
          <a:ln cap="flat" cmpd="sng" w="9525">
            <a:solidFill>
              <a:srgbClr val="9CC8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7"/>
          <p:cNvSpPr/>
          <p:nvPr/>
        </p:nvSpPr>
        <p:spPr>
          <a:xfrm>
            <a:off x="5148250" y="1809750"/>
            <a:ext cx="2057400" cy="362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294E43"/>
                </a:solidFill>
                <a:latin typeface="Arial"/>
                <a:ea typeface="Arial"/>
                <a:cs typeface="Arial"/>
                <a:sym typeface="Arial"/>
              </a:rPr>
              <a:t>2 · LEARNING PAGE</a:t>
            </a:r>
            <a:endParaRPr b="0" i="0" sz="1400" u="none" cap="none" strike="noStrike">
              <a:solidFill>
                <a:srgbClr val="000000"/>
              </a:solidFill>
              <a:latin typeface="Arial"/>
              <a:ea typeface="Arial"/>
              <a:cs typeface="Arial"/>
              <a:sym typeface="Arial"/>
            </a:endParaRPr>
          </a:p>
        </p:txBody>
      </p:sp>
      <p:sp>
        <p:nvSpPr>
          <p:cNvPr id="230" name="Google Shape;230;p7"/>
          <p:cNvSpPr/>
          <p:nvPr/>
        </p:nvSpPr>
        <p:spPr>
          <a:xfrm>
            <a:off x="5186350" y="2333625"/>
            <a:ext cx="1981200" cy="1790700"/>
          </a:xfrm>
          <a:prstGeom prst="roundRect">
            <a:avLst>
              <a:gd fmla="val 6383" name="adj"/>
            </a:avLst>
          </a:prstGeom>
          <a:solidFill>
            <a:srgbClr val="FFF8E7"/>
          </a:solidFill>
          <a:ln cap="flat" cmpd="sng" w="9525">
            <a:solidFill>
              <a:srgbClr val="E7BE7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7"/>
          <p:cNvSpPr/>
          <p:nvPr/>
        </p:nvSpPr>
        <p:spPr>
          <a:xfrm>
            <a:off x="5376850" y="2838450"/>
            <a:ext cx="1600200" cy="266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B77A25"/>
                </a:solidFill>
                <a:latin typeface="Arial"/>
                <a:ea typeface="Arial"/>
                <a:cs typeface="Arial"/>
                <a:sym typeface="Arial"/>
              </a:rPr>
              <a:t>原型图位置</a:t>
            </a:r>
            <a:endParaRPr b="0" i="0" sz="1400" u="none" cap="none" strike="noStrike">
              <a:solidFill>
                <a:srgbClr val="000000"/>
              </a:solidFill>
              <a:latin typeface="Arial"/>
              <a:ea typeface="Arial"/>
              <a:cs typeface="Arial"/>
              <a:sym typeface="Arial"/>
            </a:endParaRPr>
          </a:p>
        </p:txBody>
      </p:sp>
      <p:sp>
        <p:nvSpPr>
          <p:cNvPr id="232" name="Google Shape;232;p7"/>
          <p:cNvSpPr/>
          <p:nvPr/>
        </p:nvSpPr>
        <p:spPr>
          <a:xfrm>
            <a:off x="5281600" y="4314825"/>
            <a:ext cx="17907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0" i="0" lang="en-US" sz="975" u="none" cap="none" strike="noStrike">
                <a:solidFill>
                  <a:srgbClr val="7A5A27"/>
                </a:solidFill>
                <a:latin typeface="Arial"/>
                <a:ea typeface="Arial"/>
                <a:cs typeface="Arial"/>
                <a:sym typeface="Arial"/>
              </a:rPr>
              <a:t>请放入线框图：演示视频、步骤说明、暂停/回放/慢速。</a:t>
            </a:r>
            <a:endParaRPr b="0" i="0" sz="1400" u="none" cap="none" strike="noStrike">
              <a:solidFill>
                <a:srgbClr val="000000"/>
              </a:solidFill>
              <a:latin typeface="Arial"/>
              <a:ea typeface="Arial"/>
              <a:cs typeface="Arial"/>
              <a:sym typeface="Arial"/>
            </a:endParaRPr>
          </a:p>
        </p:txBody>
      </p:sp>
      <p:sp>
        <p:nvSpPr>
          <p:cNvPr id="233" name="Google Shape;233;p7"/>
          <p:cNvSpPr/>
          <p:nvPr/>
        </p:nvSpPr>
        <p:spPr>
          <a:xfrm>
            <a:off x="9182100" y="1600200"/>
            <a:ext cx="2400300" cy="4562700"/>
          </a:xfrm>
          <a:prstGeom prst="roundRect">
            <a:avLst>
              <a:gd fmla="val 6349" name="adj"/>
            </a:avLst>
          </a:prstGeom>
          <a:solidFill>
            <a:srgbClr val="FFFFFF"/>
          </a:solidFill>
          <a:ln cap="flat" cmpd="sng" w="9525">
            <a:solidFill>
              <a:srgbClr val="9CC8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7"/>
          <p:cNvSpPr/>
          <p:nvPr/>
        </p:nvSpPr>
        <p:spPr>
          <a:xfrm>
            <a:off x="9353550" y="1809750"/>
            <a:ext cx="2057400" cy="362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294E43"/>
                </a:solidFill>
                <a:latin typeface="Arial"/>
                <a:ea typeface="Arial"/>
                <a:cs typeface="Arial"/>
                <a:sym typeface="Arial"/>
              </a:rPr>
              <a:t>3 · Basic Quiz</a:t>
            </a:r>
            <a:endParaRPr b="0" i="0" sz="1400" u="none" cap="none" strike="noStrike">
              <a:solidFill>
                <a:srgbClr val="000000"/>
              </a:solidFill>
              <a:latin typeface="Arial"/>
              <a:ea typeface="Arial"/>
              <a:cs typeface="Arial"/>
              <a:sym typeface="Arial"/>
            </a:endParaRPr>
          </a:p>
        </p:txBody>
      </p:sp>
      <p:sp>
        <p:nvSpPr>
          <p:cNvPr id="235" name="Google Shape;235;p7"/>
          <p:cNvSpPr/>
          <p:nvPr/>
        </p:nvSpPr>
        <p:spPr>
          <a:xfrm>
            <a:off x="9391650" y="2333625"/>
            <a:ext cx="1981200" cy="1790700"/>
          </a:xfrm>
          <a:prstGeom prst="roundRect">
            <a:avLst>
              <a:gd fmla="val 6383" name="adj"/>
            </a:avLst>
          </a:prstGeom>
          <a:solidFill>
            <a:srgbClr val="FFF8E7"/>
          </a:solidFill>
          <a:ln cap="flat" cmpd="sng" w="9525">
            <a:solidFill>
              <a:srgbClr val="E7BE7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p:nvPr/>
        </p:nvSpPr>
        <p:spPr>
          <a:xfrm>
            <a:off x="9582150" y="2838450"/>
            <a:ext cx="1600200" cy="266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B77A25"/>
                </a:solidFill>
                <a:latin typeface="Arial"/>
                <a:ea typeface="Arial"/>
                <a:cs typeface="Arial"/>
                <a:sym typeface="Arial"/>
              </a:rPr>
              <a:t>原型图位置</a:t>
            </a:r>
            <a:endParaRPr b="0" i="0" sz="1400" u="none" cap="none" strike="noStrike">
              <a:solidFill>
                <a:srgbClr val="000000"/>
              </a:solidFill>
              <a:latin typeface="Arial"/>
              <a:ea typeface="Arial"/>
              <a:cs typeface="Arial"/>
              <a:sym typeface="Arial"/>
            </a:endParaRPr>
          </a:p>
        </p:txBody>
      </p:sp>
      <p:sp>
        <p:nvSpPr>
          <p:cNvPr id="237" name="Google Shape;237;p7"/>
          <p:cNvSpPr/>
          <p:nvPr/>
        </p:nvSpPr>
        <p:spPr>
          <a:xfrm>
            <a:off x="9486900" y="4314825"/>
            <a:ext cx="17907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0" i="0" lang="en-US" sz="975" u="none" cap="none" strike="noStrike">
                <a:solidFill>
                  <a:srgbClr val="7A5A27"/>
                </a:solidFill>
                <a:latin typeface="Arial"/>
                <a:ea typeface="Arial"/>
                <a:cs typeface="Arial"/>
                <a:sym typeface="Arial"/>
              </a:rPr>
              <a:t>请放入线框图：摄像头预览、参考手势、隐私提示、开始练习。</a:t>
            </a:r>
            <a:endParaRPr b="0" i="0" sz="1400" u="none" cap="none" strike="noStrike">
              <a:solidFill>
                <a:srgbClr val="000000"/>
              </a:solidFill>
              <a:latin typeface="Arial"/>
              <a:ea typeface="Arial"/>
              <a:cs typeface="Arial"/>
              <a:sym typeface="Arial"/>
            </a:endParaRPr>
          </a:p>
        </p:txBody>
      </p:sp>
      <p:sp>
        <p:nvSpPr>
          <p:cNvPr id="238" name="Google Shape;238;p7"/>
          <p:cNvSpPr/>
          <p:nvPr/>
        </p:nvSpPr>
        <p:spPr>
          <a:xfrm>
            <a:off x="819150" y="6238875"/>
            <a:ext cx="1619100" cy="190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SELECT A SIGN</a:t>
            </a:r>
            <a:endParaRPr b="0" i="0" sz="1400" u="none" cap="none" strike="noStrike">
              <a:solidFill>
                <a:srgbClr val="000000"/>
              </a:solidFill>
              <a:latin typeface="Arial"/>
              <a:ea typeface="Arial"/>
              <a:cs typeface="Arial"/>
              <a:sym typeface="Arial"/>
            </a:endParaRPr>
          </a:p>
        </p:txBody>
      </p:sp>
      <p:sp>
        <p:nvSpPr>
          <p:cNvPr id="239" name="Google Shape;239;p7"/>
          <p:cNvSpPr/>
          <p:nvPr/>
        </p:nvSpPr>
        <p:spPr>
          <a:xfrm>
            <a:off x="5214925" y="6238875"/>
            <a:ext cx="1619100" cy="190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WATCH</a:t>
            </a:r>
            <a:endParaRPr b="0" i="0" sz="1400" u="none" cap="none" strike="noStrike">
              <a:solidFill>
                <a:srgbClr val="000000"/>
              </a:solidFill>
              <a:latin typeface="Arial"/>
              <a:ea typeface="Arial"/>
              <a:cs typeface="Arial"/>
              <a:sym typeface="Arial"/>
            </a:endParaRPr>
          </a:p>
        </p:txBody>
      </p:sp>
      <p:sp>
        <p:nvSpPr>
          <p:cNvPr id="240" name="Google Shape;240;p7"/>
          <p:cNvSpPr/>
          <p:nvPr/>
        </p:nvSpPr>
        <p:spPr>
          <a:xfrm>
            <a:off x="9429750" y="6238875"/>
            <a:ext cx="1619100" cy="190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QUIZ</a:t>
            </a:r>
            <a:endParaRPr b="0" i="0" sz="1400" u="none" cap="none" strike="noStrike">
              <a:solidFill>
                <a:srgbClr val="000000"/>
              </a:solidFill>
              <a:latin typeface="Arial"/>
              <a:ea typeface="Arial"/>
              <a:cs typeface="Arial"/>
              <a:sym typeface="Arial"/>
            </a:endParaRPr>
          </a:p>
        </p:txBody>
      </p:sp>
      <p:pic>
        <p:nvPicPr>
          <p:cNvPr id="241" name="Google Shape;241;p7"/>
          <p:cNvPicPr preferRelativeResize="0"/>
          <p:nvPr/>
        </p:nvPicPr>
        <p:blipFill rotWithShape="1">
          <a:blip r:embed="rId3">
            <a:alphaModFix/>
          </a:blip>
          <a:srcRect b="0" l="0" r="0" t="0"/>
          <a:stretch/>
        </p:blipFill>
        <p:spPr>
          <a:xfrm>
            <a:off x="819150" y="2171700"/>
            <a:ext cx="1981200" cy="3743325"/>
          </a:xfrm>
          <a:prstGeom prst="rect">
            <a:avLst/>
          </a:prstGeom>
          <a:solidFill>
            <a:srgbClr val="FFF8E7"/>
          </a:solidFill>
          <a:ln cap="flat" cmpd="sng" w="9525">
            <a:solidFill>
              <a:srgbClr val="E7BE72"/>
            </a:solidFill>
            <a:prstDash val="solid"/>
            <a:round/>
            <a:headEnd len="sm" w="sm" type="none"/>
            <a:tailEnd len="sm" w="sm" type="none"/>
          </a:ln>
        </p:spPr>
      </p:pic>
      <p:pic>
        <p:nvPicPr>
          <p:cNvPr id="242" name="Google Shape;242;p7"/>
          <p:cNvPicPr preferRelativeResize="0"/>
          <p:nvPr/>
        </p:nvPicPr>
        <p:blipFill rotWithShape="1">
          <a:blip r:embed="rId4">
            <a:alphaModFix/>
          </a:blip>
          <a:srcRect b="0" l="0" r="0" t="0"/>
          <a:stretch/>
        </p:blipFill>
        <p:spPr>
          <a:xfrm>
            <a:off x="5124425" y="2171700"/>
            <a:ext cx="2057400" cy="3743325"/>
          </a:xfrm>
          <a:prstGeom prst="rect">
            <a:avLst/>
          </a:prstGeom>
          <a:solidFill>
            <a:srgbClr val="FFF8E7"/>
          </a:solidFill>
          <a:ln cap="flat" cmpd="sng" w="9525">
            <a:solidFill>
              <a:srgbClr val="E7BE72"/>
            </a:solidFill>
            <a:prstDash val="solid"/>
            <a:round/>
            <a:headEnd len="sm" w="sm" type="none"/>
            <a:tailEnd len="sm" w="sm" type="none"/>
          </a:ln>
        </p:spPr>
      </p:pic>
      <p:pic>
        <p:nvPicPr>
          <p:cNvPr id="243" name="Google Shape;243;p7"/>
          <p:cNvPicPr preferRelativeResize="0"/>
          <p:nvPr/>
        </p:nvPicPr>
        <p:blipFill rotWithShape="1">
          <a:blip r:embed="rId5">
            <a:alphaModFix/>
          </a:blip>
          <a:srcRect b="0" l="0" r="0" t="0"/>
          <a:stretch/>
        </p:blipFill>
        <p:spPr>
          <a:xfrm>
            <a:off x="9344000" y="2171700"/>
            <a:ext cx="2057400" cy="3743325"/>
          </a:xfrm>
          <a:prstGeom prst="rect">
            <a:avLst/>
          </a:prstGeom>
          <a:solidFill>
            <a:srgbClr val="FFFFFF"/>
          </a:solidFill>
          <a:ln cap="flat" cmpd="sng" w="9525">
            <a:solidFill>
              <a:srgbClr val="9CC8AA"/>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7"/>
        </a:solidFill>
      </p:bgPr>
    </p:bg>
    <p:spTree>
      <p:nvGrpSpPr>
        <p:cNvPr id="248" name="Shape 248"/>
        <p:cNvGrpSpPr/>
        <p:nvPr/>
      </p:nvGrpSpPr>
      <p:grpSpPr>
        <a:xfrm>
          <a:off x="0" y="0"/>
          <a:ext cx="0" cy="0"/>
          <a:chOff x="0" y="0"/>
          <a:chExt cx="0" cy="0"/>
        </a:xfrm>
      </p:grpSpPr>
      <p:sp>
        <p:nvSpPr>
          <p:cNvPr id="249" name="Google Shape;249;p8"/>
          <p:cNvSpPr/>
          <p:nvPr/>
        </p:nvSpPr>
        <p:spPr>
          <a:xfrm>
            <a:off x="609600" y="1200150"/>
            <a:ext cx="10972800" cy="1920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8"/>
          <p:cNvSpPr/>
          <p:nvPr/>
        </p:nvSpPr>
        <p:spPr>
          <a:xfrm>
            <a:off x="11191875" y="6496050"/>
            <a:ext cx="381000" cy="171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25"/>
              <a:buFont typeface="Arial"/>
              <a:buNone/>
            </a:pPr>
            <a:r>
              <a:rPr b="1" i="0" lang="en-US" sz="825" u="none" cap="none" strike="noStrike">
                <a:solidFill>
                  <a:srgbClr val="6EA284"/>
                </a:solidFill>
                <a:latin typeface="Arial"/>
                <a:ea typeface="Arial"/>
                <a:cs typeface="Arial"/>
                <a:sym typeface="Arial"/>
              </a:rPr>
              <a:t>09</a:t>
            </a:r>
            <a:endParaRPr b="1" i="0" sz="825" u="none" cap="none" strike="noStrike">
              <a:solidFill>
                <a:srgbClr val="6EA284"/>
              </a:solidFill>
              <a:latin typeface="Arial"/>
              <a:ea typeface="Arial"/>
              <a:cs typeface="Arial"/>
              <a:sym typeface="Arial"/>
            </a:endParaRPr>
          </a:p>
        </p:txBody>
      </p:sp>
      <p:sp>
        <p:nvSpPr>
          <p:cNvPr id="251" name="Google Shape;251;p8"/>
          <p:cNvSpPr txBox="1"/>
          <p:nvPr/>
        </p:nvSpPr>
        <p:spPr>
          <a:xfrm>
            <a:off x="612648" y="329184"/>
            <a:ext cx="5486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EA284"/>
                </a:solidFill>
                <a:latin typeface="Arial"/>
                <a:ea typeface="Arial"/>
                <a:cs typeface="Arial"/>
                <a:sym typeface="Arial"/>
              </a:rPr>
              <a:t>0</a:t>
            </a:r>
            <a:r>
              <a:rPr b="1" lang="en-US" sz="900">
                <a:solidFill>
                  <a:srgbClr val="6EA284"/>
                </a:solidFill>
              </a:rPr>
              <a:t>8</a:t>
            </a:r>
            <a:r>
              <a:rPr b="1" i="0" lang="en-US" sz="900" u="none" cap="none" strike="noStrike">
                <a:solidFill>
                  <a:srgbClr val="6EA284"/>
                </a:solidFill>
                <a:latin typeface="Arial"/>
                <a:ea typeface="Arial"/>
                <a:cs typeface="Arial"/>
                <a:sym typeface="Arial"/>
              </a:rPr>
              <a:t> · DATA SOURCES &amp; USE</a:t>
            </a:r>
            <a:endParaRPr b="1" i="0" sz="900" u="none" cap="none" strike="noStrike">
              <a:solidFill>
                <a:srgbClr val="6EA284"/>
              </a:solidFill>
              <a:latin typeface="Arial"/>
              <a:ea typeface="Arial"/>
              <a:cs typeface="Arial"/>
              <a:sym typeface="Arial"/>
            </a:endParaRPr>
          </a:p>
        </p:txBody>
      </p:sp>
      <p:sp>
        <p:nvSpPr>
          <p:cNvPr id="252" name="Google Shape;252;p8"/>
          <p:cNvSpPr txBox="1"/>
          <p:nvPr/>
        </p:nvSpPr>
        <p:spPr>
          <a:xfrm>
            <a:off x="612775" y="631190"/>
            <a:ext cx="10570210" cy="39179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294E43"/>
                </a:solidFill>
                <a:latin typeface="Arial"/>
                <a:ea typeface="Arial"/>
                <a:cs typeface="Arial"/>
                <a:sym typeface="Arial"/>
              </a:rPr>
              <a:t>Each source has one job, and a licence that allows it</a:t>
            </a:r>
            <a:endParaRPr b="1" i="0" sz="2550" u="none" cap="none" strike="noStrike">
              <a:solidFill>
                <a:srgbClr val="294E43"/>
              </a:solidFill>
              <a:latin typeface="Arial"/>
              <a:ea typeface="Arial"/>
              <a:cs typeface="Arial"/>
              <a:sym typeface="Arial"/>
            </a:endParaRPr>
          </a:p>
        </p:txBody>
      </p:sp>
      <p:sp>
        <p:nvSpPr>
          <p:cNvPr id="253" name="Google Shape;253;p8"/>
          <p:cNvSpPr txBox="1"/>
          <p:nvPr/>
        </p:nvSpPr>
        <p:spPr>
          <a:xfrm>
            <a:off x="612648" y="6528816"/>
            <a:ext cx="4764024" cy="1554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65766F"/>
                </a:solidFill>
                <a:latin typeface="Arial"/>
                <a:ea typeface="Arial"/>
                <a:cs typeface="Arial"/>
                <a:sym typeface="Arial"/>
              </a:rPr>
              <a:t>FIT5120  ·  PROPOSAL TO INDUSTRY MENTOR</a:t>
            </a:r>
            <a:endParaRPr b="1" i="0" sz="750" u="none" cap="none" strike="noStrike">
              <a:solidFill>
                <a:srgbClr val="65766F"/>
              </a:solidFill>
              <a:latin typeface="Arial"/>
              <a:ea typeface="Arial"/>
              <a:cs typeface="Arial"/>
              <a:sym typeface="Arial"/>
            </a:endParaRPr>
          </a:p>
        </p:txBody>
      </p:sp>
      <p:sp>
        <p:nvSpPr>
          <p:cNvPr id="254" name="Google Shape;254;p8"/>
          <p:cNvSpPr/>
          <p:nvPr/>
        </p:nvSpPr>
        <p:spPr>
          <a:xfrm>
            <a:off x="384063" y="1803700"/>
            <a:ext cx="5221200" cy="4542600"/>
          </a:xfrm>
          <a:prstGeom prst="roundRect">
            <a:avLst>
              <a:gd fmla="val 4348" name="adj"/>
            </a:avLst>
          </a:prstGeom>
          <a:solidFill>
            <a:srgbClr val="FFFFFF"/>
          </a:solidFill>
          <a:ln cap="flat" cmpd="sng" w="9525">
            <a:solidFill>
              <a:srgbClr val="C8DD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55" name="Google Shape;255;p8"/>
          <p:cNvSpPr txBox="1"/>
          <p:nvPr/>
        </p:nvSpPr>
        <p:spPr>
          <a:xfrm>
            <a:off x="841173" y="2294866"/>
            <a:ext cx="41148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EA284"/>
                </a:solidFill>
                <a:latin typeface="Arial"/>
                <a:ea typeface="Arial"/>
                <a:cs typeface="Arial"/>
                <a:sym typeface="Arial"/>
              </a:rPr>
              <a:t>WHERE THE DATA COMES FROM</a:t>
            </a:r>
            <a:endParaRPr b="1" i="0" sz="1000" u="none" cap="none" strike="noStrike">
              <a:solidFill>
                <a:srgbClr val="6EA284"/>
              </a:solidFill>
              <a:latin typeface="Arial"/>
              <a:ea typeface="Arial"/>
              <a:cs typeface="Arial"/>
              <a:sym typeface="Arial"/>
            </a:endParaRPr>
          </a:p>
        </p:txBody>
      </p:sp>
      <p:sp>
        <p:nvSpPr>
          <p:cNvPr id="256" name="Google Shape;256;p8"/>
          <p:cNvSpPr/>
          <p:nvPr/>
        </p:nvSpPr>
        <p:spPr>
          <a:xfrm>
            <a:off x="859461" y="2688058"/>
            <a:ext cx="82200" cy="822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57" name="Google Shape;257;p8"/>
          <p:cNvSpPr txBox="1"/>
          <p:nvPr/>
        </p:nvSpPr>
        <p:spPr>
          <a:xfrm>
            <a:off x="1042340" y="2614905"/>
            <a:ext cx="46176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294E43"/>
                </a:solidFill>
                <a:latin typeface="Arial"/>
                <a:ea typeface="Arial"/>
                <a:cs typeface="Arial"/>
                <a:sym typeface="Arial"/>
              </a:rPr>
              <a:t>Auslan Signbank</a:t>
            </a:r>
            <a:endParaRPr b="1" i="0" sz="1250" u="none" cap="none" strike="noStrike">
              <a:solidFill>
                <a:srgbClr val="294E43"/>
              </a:solidFill>
              <a:latin typeface="Arial"/>
              <a:ea typeface="Arial"/>
              <a:cs typeface="Arial"/>
              <a:sym typeface="Arial"/>
            </a:endParaRPr>
          </a:p>
        </p:txBody>
      </p:sp>
      <p:sp>
        <p:nvSpPr>
          <p:cNvPr id="258" name="Google Shape;258;p8"/>
          <p:cNvSpPr txBox="1"/>
          <p:nvPr/>
        </p:nvSpPr>
        <p:spPr>
          <a:xfrm>
            <a:off x="1042340" y="2816074"/>
            <a:ext cx="4617600" cy="1461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950"/>
              <a:buFont typeface="Arial"/>
              <a:buNone/>
            </a:pPr>
            <a:r>
              <a:rPr b="0" i="0" lang="en-US" sz="950" u="none" cap="none" strike="noStrike">
                <a:solidFill>
                  <a:srgbClr val="65766F"/>
                </a:solidFill>
                <a:latin typeface="Arial"/>
                <a:ea typeface="Arial"/>
                <a:cs typeface="Arial"/>
                <a:sym typeface="Arial"/>
              </a:rPr>
              <a:t>Monash / Macquarie  ·  CC BY-NC-ND 4.0</a:t>
            </a:r>
            <a:endParaRPr b="0" i="0" sz="950" u="none" cap="none" strike="noStrike">
              <a:solidFill>
                <a:srgbClr val="65766F"/>
              </a:solidFill>
              <a:latin typeface="Arial"/>
              <a:ea typeface="Arial"/>
              <a:cs typeface="Arial"/>
              <a:sym typeface="Arial"/>
            </a:endParaRPr>
          </a:p>
        </p:txBody>
      </p:sp>
      <p:sp>
        <p:nvSpPr>
          <p:cNvPr id="259" name="Google Shape;259;p8"/>
          <p:cNvSpPr/>
          <p:nvPr/>
        </p:nvSpPr>
        <p:spPr>
          <a:xfrm>
            <a:off x="859461" y="3218410"/>
            <a:ext cx="82200" cy="822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60" name="Google Shape;260;p8"/>
          <p:cNvSpPr txBox="1"/>
          <p:nvPr/>
        </p:nvSpPr>
        <p:spPr>
          <a:xfrm>
            <a:off x="1042340" y="3145258"/>
            <a:ext cx="46176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294E43"/>
                </a:solidFill>
                <a:latin typeface="Arial"/>
                <a:ea typeface="Arial"/>
                <a:cs typeface="Arial"/>
                <a:sym typeface="Arial"/>
              </a:rPr>
              <a:t>Our own recordings</a:t>
            </a:r>
            <a:endParaRPr b="1" i="0" sz="1250" u="none" cap="none" strike="noStrike">
              <a:solidFill>
                <a:srgbClr val="294E43"/>
              </a:solidFill>
              <a:latin typeface="Arial"/>
              <a:ea typeface="Arial"/>
              <a:cs typeface="Arial"/>
              <a:sym typeface="Arial"/>
            </a:endParaRPr>
          </a:p>
        </p:txBody>
      </p:sp>
      <p:sp>
        <p:nvSpPr>
          <p:cNvPr id="261" name="Google Shape;261;p8"/>
          <p:cNvSpPr txBox="1"/>
          <p:nvPr/>
        </p:nvSpPr>
        <p:spPr>
          <a:xfrm>
            <a:off x="1042340" y="3346426"/>
            <a:ext cx="4617600" cy="1461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950"/>
              <a:buFont typeface="Arial"/>
              <a:buNone/>
            </a:pPr>
            <a:r>
              <a:rPr b="0" i="0" lang="en-US" sz="950" u="none" cap="none" strike="noStrike">
                <a:solidFill>
                  <a:srgbClr val="65766F"/>
                </a:solidFill>
                <a:latin typeface="Arial"/>
                <a:ea typeface="Arial"/>
                <a:cs typeface="Arial"/>
                <a:sym typeface="Arial"/>
              </a:rPr>
              <a:t>Filmed with Auslan-fluent signers  ·  consent per signer</a:t>
            </a:r>
            <a:endParaRPr b="0" i="0" sz="950" u="none" cap="none" strike="noStrike">
              <a:solidFill>
                <a:srgbClr val="65766F"/>
              </a:solidFill>
              <a:latin typeface="Arial"/>
              <a:ea typeface="Arial"/>
              <a:cs typeface="Arial"/>
              <a:sym typeface="Arial"/>
            </a:endParaRPr>
          </a:p>
        </p:txBody>
      </p:sp>
      <p:sp>
        <p:nvSpPr>
          <p:cNvPr id="262" name="Google Shape;262;p8"/>
          <p:cNvSpPr/>
          <p:nvPr/>
        </p:nvSpPr>
        <p:spPr>
          <a:xfrm>
            <a:off x="859461" y="3748762"/>
            <a:ext cx="82200" cy="822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63" name="Google Shape;263;p8"/>
          <p:cNvSpPr txBox="1"/>
          <p:nvPr/>
        </p:nvSpPr>
        <p:spPr>
          <a:xfrm>
            <a:off x="1042340" y="3675610"/>
            <a:ext cx="46176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294E43"/>
                </a:solidFill>
                <a:latin typeface="Arial"/>
                <a:ea typeface="Arial"/>
                <a:cs typeface="Arial"/>
                <a:sym typeface="Arial"/>
              </a:rPr>
              <a:t>MM-WLAuslan</a:t>
            </a:r>
            <a:endParaRPr b="1" i="0" sz="1250" u="none" cap="none" strike="noStrike">
              <a:solidFill>
                <a:srgbClr val="294E43"/>
              </a:solidFill>
              <a:latin typeface="Arial"/>
              <a:ea typeface="Arial"/>
              <a:cs typeface="Arial"/>
              <a:sym typeface="Arial"/>
            </a:endParaRPr>
          </a:p>
        </p:txBody>
      </p:sp>
      <p:sp>
        <p:nvSpPr>
          <p:cNvPr id="264" name="Google Shape;264;p8"/>
          <p:cNvSpPr txBox="1"/>
          <p:nvPr/>
        </p:nvSpPr>
        <p:spPr>
          <a:xfrm>
            <a:off x="1042340" y="3876778"/>
            <a:ext cx="4617600" cy="1461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950"/>
              <a:buFont typeface="Arial"/>
              <a:buNone/>
            </a:pPr>
            <a:r>
              <a:rPr b="0" i="0" lang="en-US" sz="950" u="none" cap="none" strike="noStrike">
                <a:solidFill>
                  <a:srgbClr val="65766F"/>
                </a:solidFill>
                <a:latin typeface="Arial"/>
                <a:ea typeface="Arial"/>
                <a:cs typeface="Arial"/>
                <a:sym typeface="Arial"/>
              </a:rPr>
              <a:t>UQ CV Lab 2024  ·  research use, terms being confirmed</a:t>
            </a:r>
            <a:endParaRPr b="0" i="0" sz="950" u="none" cap="none" strike="noStrike">
              <a:solidFill>
                <a:srgbClr val="65766F"/>
              </a:solidFill>
              <a:latin typeface="Arial"/>
              <a:ea typeface="Arial"/>
              <a:cs typeface="Arial"/>
              <a:sym typeface="Arial"/>
            </a:endParaRPr>
          </a:p>
        </p:txBody>
      </p:sp>
      <p:sp>
        <p:nvSpPr>
          <p:cNvPr id="265" name="Google Shape;265;p8"/>
          <p:cNvSpPr/>
          <p:nvPr/>
        </p:nvSpPr>
        <p:spPr>
          <a:xfrm>
            <a:off x="859461" y="4279113"/>
            <a:ext cx="82200" cy="822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66" name="Google Shape;266;p8"/>
          <p:cNvSpPr txBox="1"/>
          <p:nvPr/>
        </p:nvSpPr>
        <p:spPr>
          <a:xfrm>
            <a:off x="1042340" y="4205962"/>
            <a:ext cx="46176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294E43"/>
                </a:solidFill>
                <a:latin typeface="Arial"/>
                <a:ea typeface="Arial"/>
                <a:cs typeface="Arial"/>
                <a:sym typeface="Arial"/>
              </a:rPr>
              <a:t>UCI Auslan Signs</a:t>
            </a:r>
            <a:endParaRPr b="1" i="0" sz="1250" u="none" cap="none" strike="noStrike">
              <a:solidFill>
                <a:srgbClr val="294E43"/>
              </a:solidFill>
              <a:latin typeface="Arial"/>
              <a:ea typeface="Arial"/>
              <a:cs typeface="Arial"/>
              <a:sym typeface="Arial"/>
            </a:endParaRPr>
          </a:p>
        </p:txBody>
      </p:sp>
      <p:sp>
        <p:nvSpPr>
          <p:cNvPr id="267" name="Google Shape;267;p8"/>
          <p:cNvSpPr txBox="1"/>
          <p:nvPr/>
        </p:nvSpPr>
        <p:spPr>
          <a:xfrm>
            <a:off x="1042340" y="4407130"/>
            <a:ext cx="4617600" cy="1461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950"/>
              <a:buFont typeface="Arial"/>
              <a:buNone/>
            </a:pPr>
            <a:r>
              <a:rPr b="0" i="0" lang="en-US" sz="950" u="none" cap="none" strike="noStrike">
                <a:solidFill>
                  <a:srgbClr val="65766F"/>
                </a:solidFill>
                <a:latin typeface="Arial"/>
                <a:ea typeface="Arial"/>
                <a:cs typeface="Arial"/>
                <a:sym typeface="Arial"/>
              </a:rPr>
              <a:t>Kadous 2002  ·  CC BY 4.0  ·  sensor data, no video</a:t>
            </a:r>
            <a:endParaRPr b="0" i="0" sz="950" u="none" cap="none" strike="noStrike">
              <a:solidFill>
                <a:srgbClr val="65766F"/>
              </a:solidFill>
              <a:latin typeface="Arial"/>
              <a:ea typeface="Arial"/>
              <a:cs typeface="Arial"/>
              <a:sym typeface="Arial"/>
            </a:endParaRPr>
          </a:p>
        </p:txBody>
      </p:sp>
      <p:sp>
        <p:nvSpPr>
          <p:cNvPr id="268" name="Google Shape;268;p8"/>
          <p:cNvSpPr/>
          <p:nvPr/>
        </p:nvSpPr>
        <p:spPr>
          <a:xfrm>
            <a:off x="859461" y="4809466"/>
            <a:ext cx="82200" cy="822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69" name="Google Shape;269;p8"/>
          <p:cNvSpPr txBox="1"/>
          <p:nvPr/>
        </p:nvSpPr>
        <p:spPr>
          <a:xfrm>
            <a:off x="1042340" y="4736314"/>
            <a:ext cx="46176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294E43"/>
                </a:solidFill>
                <a:latin typeface="Arial"/>
                <a:ea typeface="Arial"/>
                <a:cs typeface="Arial"/>
                <a:sym typeface="Arial"/>
              </a:rPr>
              <a:t>App practice data</a:t>
            </a:r>
            <a:endParaRPr b="1" i="0" sz="1250" u="none" cap="none" strike="noStrike">
              <a:solidFill>
                <a:srgbClr val="294E43"/>
              </a:solidFill>
              <a:latin typeface="Arial"/>
              <a:ea typeface="Arial"/>
              <a:cs typeface="Arial"/>
              <a:sym typeface="Arial"/>
            </a:endParaRPr>
          </a:p>
        </p:txBody>
      </p:sp>
      <p:sp>
        <p:nvSpPr>
          <p:cNvPr id="270" name="Google Shape;270;p8"/>
          <p:cNvSpPr txBox="1"/>
          <p:nvPr/>
        </p:nvSpPr>
        <p:spPr>
          <a:xfrm>
            <a:off x="1042340" y="4937482"/>
            <a:ext cx="4617600" cy="1461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950"/>
              <a:buFont typeface="Arial"/>
              <a:buNone/>
            </a:pPr>
            <a:r>
              <a:rPr b="0" i="0" lang="en-US" sz="950" u="none" cap="none" strike="noStrike">
                <a:solidFill>
                  <a:srgbClr val="65766F"/>
                </a:solidFill>
                <a:latin typeface="Arial"/>
                <a:ea typeface="Arial"/>
                <a:cs typeface="Arial"/>
                <a:sym typeface="Arial"/>
              </a:rPr>
              <a:t>Generated in use  ·  stored in PostgreSQL</a:t>
            </a:r>
            <a:endParaRPr b="0" i="0" sz="950" u="none" cap="none" strike="noStrike">
              <a:solidFill>
                <a:srgbClr val="65766F"/>
              </a:solidFill>
              <a:latin typeface="Arial"/>
              <a:ea typeface="Arial"/>
              <a:cs typeface="Arial"/>
              <a:sym typeface="Arial"/>
            </a:endParaRPr>
          </a:p>
        </p:txBody>
      </p:sp>
      <p:sp>
        <p:nvSpPr>
          <p:cNvPr id="271" name="Google Shape;271;p8"/>
          <p:cNvSpPr txBox="1"/>
          <p:nvPr/>
        </p:nvSpPr>
        <p:spPr>
          <a:xfrm>
            <a:off x="841186" y="5806165"/>
            <a:ext cx="4755000" cy="30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950"/>
              <a:buFont typeface="Arial"/>
              <a:buNone/>
            </a:pPr>
            <a:r>
              <a:rPr b="0" i="1" lang="en-US" sz="950" u="none" cap="none" strike="noStrike">
                <a:solidFill>
                  <a:srgbClr val="6EA284"/>
                </a:solidFill>
                <a:latin typeface="Arial"/>
                <a:ea typeface="Arial"/>
                <a:cs typeface="Arial"/>
                <a:sym typeface="Arial"/>
              </a:rPr>
              <a:t>Auslan is a BANZSL language and fingerspells with two hands. ASL datasets such as WLASL or MS-ASL are not substitutes.</a:t>
            </a:r>
            <a:endParaRPr b="0" i="1" sz="950" u="none" cap="none" strike="noStrike">
              <a:solidFill>
                <a:srgbClr val="6EA284"/>
              </a:solidFill>
              <a:latin typeface="Arial"/>
              <a:ea typeface="Arial"/>
              <a:cs typeface="Arial"/>
              <a:sym typeface="Arial"/>
            </a:endParaRPr>
          </a:p>
        </p:txBody>
      </p:sp>
      <p:sp>
        <p:nvSpPr>
          <p:cNvPr id="272" name="Google Shape;272;p8"/>
          <p:cNvSpPr/>
          <p:nvPr/>
        </p:nvSpPr>
        <p:spPr>
          <a:xfrm>
            <a:off x="5949975" y="1803700"/>
            <a:ext cx="5504700" cy="4548000"/>
          </a:xfrm>
          <a:prstGeom prst="roundRect">
            <a:avLst>
              <a:gd fmla="val 4348" name="adj"/>
            </a:avLst>
          </a:prstGeom>
          <a:solidFill>
            <a:srgbClr val="E7F3EA"/>
          </a:solidFill>
          <a:ln cap="flat" cmpd="sng" w="9525">
            <a:solidFill>
              <a:srgbClr val="E7F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3" name="Google Shape;273;p8"/>
          <p:cNvSpPr txBox="1"/>
          <p:nvPr/>
        </p:nvSpPr>
        <p:spPr>
          <a:xfrm>
            <a:off x="6289435" y="2294866"/>
            <a:ext cx="41148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EA284"/>
                </a:solidFill>
                <a:latin typeface="Arial"/>
                <a:ea typeface="Arial"/>
                <a:cs typeface="Arial"/>
                <a:sym typeface="Arial"/>
              </a:rPr>
              <a:t>HOW WE USE IT</a:t>
            </a:r>
            <a:endParaRPr b="1" i="0" sz="1100" u="none" cap="none" strike="noStrike">
              <a:solidFill>
                <a:srgbClr val="6EA284"/>
              </a:solidFill>
              <a:latin typeface="Arial"/>
              <a:ea typeface="Arial"/>
              <a:cs typeface="Arial"/>
              <a:sym typeface="Arial"/>
            </a:endParaRPr>
          </a:p>
        </p:txBody>
      </p:sp>
      <p:sp>
        <p:nvSpPr>
          <p:cNvPr id="274" name="Google Shape;274;p8"/>
          <p:cNvSpPr/>
          <p:nvPr/>
        </p:nvSpPr>
        <p:spPr>
          <a:xfrm>
            <a:off x="6289435" y="2633193"/>
            <a:ext cx="201300" cy="2013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Arial"/>
                <a:ea typeface="Arial"/>
                <a:cs typeface="Arial"/>
                <a:sym typeface="Arial"/>
              </a:rPr>
              <a:t>1</a:t>
            </a:r>
            <a:endParaRPr b="1" i="0" sz="1000" u="none" cap="none" strike="noStrike">
              <a:solidFill>
                <a:srgbClr val="FFFFFF"/>
              </a:solidFill>
              <a:latin typeface="Arial"/>
              <a:ea typeface="Arial"/>
              <a:cs typeface="Arial"/>
              <a:sym typeface="Arial"/>
            </a:endParaRPr>
          </a:p>
        </p:txBody>
      </p:sp>
      <p:sp>
        <p:nvSpPr>
          <p:cNvPr id="275" name="Google Shape;275;p8"/>
          <p:cNvSpPr txBox="1"/>
          <p:nvPr/>
        </p:nvSpPr>
        <p:spPr>
          <a:xfrm>
            <a:off x="6618619" y="2614905"/>
            <a:ext cx="4755000" cy="177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1150"/>
              <a:buFont typeface="Arial"/>
              <a:buNone/>
            </a:pPr>
            <a:r>
              <a:rPr b="0" i="0" lang="en-US" sz="1150" u="none" cap="none" strike="noStrike">
                <a:solidFill>
                  <a:srgbClr val="26352F"/>
                </a:solidFill>
                <a:latin typeface="Arial"/>
                <a:ea typeface="Arial"/>
                <a:cs typeface="Arial"/>
                <a:sym typeface="Arial"/>
              </a:rPr>
              <a:t>Signbank videos are what the learner watches, never what we train on</a:t>
            </a:r>
            <a:endParaRPr b="0" i="0" sz="1150" u="none" cap="none" strike="noStrike">
              <a:solidFill>
                <a:srgbClr val="26352F"/>
              </a:solidFill>
              <a:latin typeface="Arial"/>
              <a:ea typeface="Arial"/>
              <a:cs typeface="Arial"/>
              <a:sym typeface="Arial"/>
            </a:endParaRPr>
          </a:p>
        </p:txBody>
      </p:sp>
      <p:sp>
        <p:nvSpPr>
          <p:cNvPr id="276" name="Google Shape;276;p8"/>
          <p:cNvSpPr/>
          <p:nvPr/>
        </p:nvSpPr>
        <p:spPr>
          <a:xfrm>
            <a:off x="6289435" y="3090394"/>
            <a:ext cx="201300" cy="2013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Arial"/>
                <a:ea typeface="Arial"/>
                <a:cs typeface="Arial"/>
                <a:sym typeface="Arial"/>
              </a:rPr>
              <a:t>2</a:t>
            </a:r>
            <a:endParaRPr b="1" i="0" sz="1000" u="none" cap="none" strike="noStrike">
              <a:solidFill>
                <a:srgbClr val="FFFFFF"/>
              </a:solidFill>
              <a:latin typeface="Arial"/>
              <a:ea typeface="Arial"/>
              <a:cs typeface="Arial"/>
              <a:sym typeface="Arial"/>
            </a:endParaRPr>
          </a:p>
        </p:txBody>
      </p:sp>
      <p:sp>
        <p:nvSpPr>
          <p:cNvPr id="277" name="Google Shape;277;p8"/>
          <p:cNvSpPr txBox="1"/>
          <p:nvPr/>
        </p:nvSpPr>
        <p:spPr>
          <a:xfrm>
            <a:off x="6618619" y="3072106"/>
            <a:ext cx="4755000" cy="177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1150"/>
              <a:buFont typeface="Arial"/>
              <a:buNone/>
            </a:pPr>
            <a:r>
              <a:rPr b="0" i="0" lang="en-US" sz="1150" u="none" cap="none" strike="noStrike">
                <a:solidFill>
                  <a:srgbClr val="26352F"/>
                </a:solidFill>
                <a:latin typeface="Arial"/>
                <a:ea typeface="Arial"/>
                <a:cs typeface="Arial"/>
                <a:sym typeface="Arial"/>
              </a:rPr>
              <a:t>Our own recordings are converted into MediaPipe hand keypoints</a:t>
            </a:r>
            <a:endParaRPr b="0" i="0" sz="1150" u="none" cap="none" strike="noStrike">
              <a:solidFill>
                <a:srgbClr val="26352F"/>
              </a:solidFill>
              <a:latin typeface="Arial"/>
              <a:ea typeface="Arial"/>
              <a:cs typeface="Arial"/>
              <a:sym typeface="Arial"/>
            </a:endParaRPr>
          </a:p>
        </p:txBody>
      </p:sp>
      <p:sp>
        <p:nvSpPr>
          <p:cNvPr id="278" name="Google Shape;278;p8"/>
          <p:cNvSpPr/>
          <p:nvPr/>
        </p:nvSpPr>
        <p:spPr>
          <a:xfrm>
            <a:off x="6289435" y="3547594"/>
            <a:ext cx="201300" cy="2013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Arial"/>
                <a:ea typeface="Arial"/>
                <a:cs typeface="Arial"/>
                <a:sym typeface="Arial"/>
              </a:rPr>
              <a:t>3</a:t>
            </a:r>
            <a:endParaRPr b="1" i="0" sz="1000" u="none" cap="none" strike="noStrike">
              <a:solidFill>
                <a:srgbClr val="FFFFFF"/>
              </a:solidFill>
              <a:latin typeface="Arial"/>
              <a:ea typeface="Arial"/>
              <a:cs typeface="Arial"/>
              <a:sym typeface="Arial"/>
            </a:endParaRPr>
          </a:p>
        </p:txBody>
      </p:sp>
      <p:sp>
        <p:nvSpPr>
          <p:cNvPr id="279" name="Google Shape;279;p8"/>
          <p:cNvSpPr txBox="1"/>
          <p:nvPr/>
        </p:nvSpPr>
        <p:spPr>
          <a:xfrm>
            <a:off x="6618619" y="3529306"/>
            <a:ext cx="4755000" cy="177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1150"/>
              <a:buFont typeface="Arial"/>
              <a:buNone/>
            </a:pPr>
            <a:r>
              <a:rPr b="0" i="0" lang="en-US" sz="1150" u="none" cap="none" strike="noStrike">
                <a:solidFill>
                  <a:srgbClr val="26352F"/>
                </a:solidFill>
                <a:latin typeface="Arial"/>
                <a:ea typeface="Arial"/>
                <a:cs typeface="Arial"/>
                <a:sym typeface="Arial"/>
              </a:rPr>
              <a:t>The classifier is trained on those keypoints, not on raw video</a:t>
            </a:r>
            <a:endParaRPr b="0" i="0" sz="1150" u="none" cap="none" strike="noStrike">
              <a:solidFill>
                <a:srgbClr val="26352F"/>
              </a:solidFill>
              <a:latin typeface="Arial"/>
              <a:ea typeface="Arial"/>
              <a:cs typeface="Arial"/>
              <a:sym typeface="Arial"/>
            </a:endParaRPr>
          </a:p>
        </p:txBody>
      </p:sp>
      <p:sp>
        <p:nvSpPr>
          <p:cNvPr id="280" name="Google Shape;280;p8"/>
          <p:cNvSpPr/>
          <p:nvPr/>
        </p:nvSpPr>
        <p:spPr>
          <a:xfrm>
            <a:off x="6289435" y="4004794"/>
            <a:ext cx="201300" cy="2013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Arial"/>
                <a:ea typeface="Arial"/>
                <a:cs typeface="Arial"/>
                <a:sym typeface="Arial"/>
              </a:rPr>
              <a:t>4</a:t>
            </a:r>
            <a:endParaRPr b="1" i="0" sz="1000" u="none" cap="none" strike="noStrike">
              <a:solidFill>
                <a:srgbClr val="FFFFFF"/>
              </a:solidFill>
              <a:latin typeface="Arial"/>
              <a:ea typeface="Arial"/>
              <a:cs typeface="Arial"/>
              <a:sym typeface="Arial"/>
            </a:endParaRPr>
          </a:p>
        </p:txBody>
      </p:sp>
      <p:sp>
        <p:nvSpPr>
          <p:cNvPr id="281" name="Google Shape;281;p8"/>
          <p:cNvSpPr txBox="1"/>
          <p:nvPr/>
        </p:nvSpPr>
        <p:spPr>
          <a:xfrm>
            <a:off x="6618619" y="3986506"/>
            <a:ext cx="4755000" cy="177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1150"/>
              <a:buFont typeface="Arial"/>
              <a:buNone/>
            </a:pPr>
            <a:r>
              <a:rPr b="0" i="0" lang="en-US" sz="1150" u="none" cap="none" strike="noStrike">
                <a:solidFill>
                  <a:srgbClr val="26352F"/>
                </a:solidFill>
                <a:latin typeface="Arial"/>
                <a:ea typeface="Arial"/>
                <a:cs typeface="Arial"/>
                <a:sym typeface="Arial"/>
              </a:rPr>
              <a:t>The webcam gives live correct / not-yet feedback during practice</a:t>
            </a:r>
            <a:endParaRPr b="0" i="0" sz="1150" u="none" cap="none" strike="noStrike">
              <a:solidFill>
                <a:srgbClr val="26352F"/>
              </a:solidFill>
              <a:latin typeface="Arial"/>
              <a:ea typeface="Arial"/>
              <a:cs typeface="Arial"/>
              <a:sym typeface="Arial"/>
            </a:endParaRPr>
          </a:p>
        </p:txBody>
      </p:sp>
      <p:sp>
        <p:nvSpPr>
          <p:cNvPr id="282" name="Google Shape;282;p8"/>
          <p:cNvSpPr/>
          <p:nvPr/>
        </p:nvSpPr>
        <p:spPr>
          <a:xfrm>
            <a:off x="6289435" y="4461994"/>
            <a:ext cx="201300" cy="201300"/>
          </a:xfrm>
          <a:prstGeom prst="ellipse">
            <a:avLst/>
          </a:prstGeom>
          <a:solidFill>
            <a:srgbClr val="6EA284"/>
          </a:solidFill>
          <a:ln cap="flat" cmpd="sng" w="9525">
            <a:solidFill>
              <a:srgbClr val="6EA28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Arial"/>
                <a:ea typeface="Arial"/>
                <a:cs typeface="Arial"/>
                <a:sym typeface="Arial"/>
              </a:rPr>
              <a:t>5</a:t>
            </a:r>
            <a:endParaRPr b="1" i="0" sz="1000" u="none" cap="none" strike="noStrike">
              <a:solidFill>
                <a:srgbClr val="FFFFFF"/>
              </a:solidFill>
              <a:latin typeface="Arial"/>
              <a:ea typeface="Arial"/>
              <a:cs typeface="Arial"/>
              <a:sym typeface="Arial"/>
            </a:endParaRPr>
          </a:p>
        </p:txBody>
      </p:sp>
      <p:sp>
        <p:nvSpPr>
          <p:cNvPr id="283" name="Google Shape;283;p8"/>
          <p:cNvSpPr txBox="1"/>
          <p:nvPr/>
        </p:nvSpPr>
        <p:spPr>
          <a:xfrm>
            <a:off x="6618619" y="4443706"/>
            <a:ext cx="4755000" cy="177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1150"/>
              <a:buFont typeface="Arial"/>
              <a:buNone/>
            </a:pPr>
            <a:r>
              <a:rPr b="0" i="0" lang="en-US" sz="1150" u="none" cap="none" strike="noStrike">
                <a:solidFill>
                  <a:srgbClr val="26352F"/>
                </a:solidFill>
                <a:latin typeface="Arial"/>
                <a:ea typeface="Arial"/>
                <a:cs typeface="Arial"/>
                <a:sym typeface="Arial"/>
              </a:rPr>
              <a:t>Every attempt is logged, so the app chooses what to review next</a:t>
            </a:r>
            <a:endParaRPr b="0" i="0" sz="1150" u="none" cap="none" strike="noStrike">
              <a:solidFill>
                <a:srgbClr val="26352F"/>
              </a:solidFill>
              <a:latin typeface="Arial"/>
              <a:ea typeface="Arial"/>
              <a:cs typeface="Arial"/>
              <a:sym typeface="Arial"/>
            </a:endParaRPr>
          </a:p>
        </p:txBody>
      </p:sp>
      <p:sp>
        <p:nvSpPr>
          <p:cNvPr id="284" name="Google Shape;284;p8"/>
          <p:cNvSpPr txBox="1"/>
          <p:nvPr/>
        </p:nvSpPr>
        <p:spPr>
          <a:xfrm>
            <a:off x="6294135" y="5360120"/>
            <a:ext cx="5074800" cy="37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150"/>
              <a:buFont typeface="Arial"/>
              <a:buNone/>
            </a:pPr>
            <a:r>
              <a:rPr b="1" i="0" lang="en-US" sz="1150" u="none" cap="none" strike="noStrike">
                <a:solidFill>
                  <a:srgbClr val="294E43"/>
                </a:solidFill>
                <a:latin typeface="Arial"/>
                <a:ea typeface="Arial"/>
                <a:cs typeface="Arial"/>
                <a:sym typeface="Arial"/>
              </a:rPr>
              <a:t>Raw video never reaches the model. </a:t>
            </a:r>
            <a:r>
              <a:rPr b="0" i="0" lang="en-US" sz="1150" u="none" cap="none" strike="noStrike">
                <a:solidFill>
                  <a:srgbClr val="26352F"/>
                </a:solidFill>
                <a:latin typeface="Arial"/>
                <a:ea typeface="Arial"/>
                <a:cs typeface="Arial"/>
                <a:sym typeface="Arial"/>
              </a:rPr>
              <a:t>Keypoints are what let recorded training data work on a parent's laptop webcam.</a:t>
            </a:r>
            <a:endParaRPr b="0" i="0" sz="1150" u="none" cap="none" strike="noStrike">
              <a:solidFill>
                <a:srgbClr val="26352F"/>
              </a:solidFill>
              <a:latin typeface="Arial"/>
              <a:ea typeface="Arial"/>
              <a:cs typeface="Arial"/>
              <a:sym typeface="Arial"/>
            </a:endParaRPr>
          </a:p>
        </p:txBody>
      </p:sp>
      <p:sp>
        <p:nvSpPr>
          <p:cNvPr id="285" name="Google Shape;285;p8"/>
          <p:cNvSpPr txBox="1"/>
          <p:nvPr/>
        </p:nvSpPr>
        <p:spPr>
          <a:xfrm>
            <a:off x="6294123" y="5879780"/>
            <a:ext cx="50748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1" lang="en-US" sz="1050" u="none" cap="none" strike="noStrike">
                <a:solidFill>
                  <a:srgbClr val="6EA284"/>
                </a:solidFill>
                <a:latin typeface="Arial"/>
                <a:ea typeface="Arial"/>
                <a:cs typeface="Arial"/>
                <a:sym typeface="Arial"/>
              </a:rPr>
              <a:t>We recognise individual signs — we do not translate Auslan.</a:t>
            </a:r>
            <a:endParaRPr b="0" i="1" sz="1050" u="none" cap="none" strike="noStrike">
              <a:solidFill>
                <a:srgbClr val="6EA284"/>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7"/>
        </a:solidFill>
      </p:bgPr>
    </p:bg>
    <p:spTree>
      <p:nvGrpSpPr>
        <p:cNvPr id="289" name="Shape 289"/>
        <p:cNvGrpSpPr/>
        <p:nvPr/>
      </p:nvGrpSpPr>
      <p:grpSpPr>
        <a:xfrm>
          <a:off x="0" y="0"/>
          <a:ext cx="0" cy="0"/>
          <a:chOff x="0" y="0"/>
          <a:chExt cx="0" cy="0"/>
        </a:xfrm>
      </p:grpSpPr>
      <p:sp>
        <p:nvSpPr>
          <p:cNvPr id="290" name="Google Shape;290;p9"/>
          <p:cNvSpPr/>
          <p:nvPr/>
        </p:nvSpPr>
        <p:spPr>
          <a:xfrm>
            <a:off x="609600" y="333375"/>
            <a:ext cx="60000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lang="en-US" sz="900">
                <a:solidFill>
                  <a:srgbClr val="6EA284"/>
                </a:solidFill>
              </a:rPr>
              <a:t>09</a:t>
            </a:r>
            <a:r>
              <a:rPr b="1" i="0" lang="en-US" sz="900" u="none" cap="none" strike="noStrike">
                <a:solidFill>
                  <a:srgbClr val="6EA284"/>
                </a:solidFill>
                <a:latin typeface="Arial"/>
                <a:ea typeface="Arial"/>
                <a:cs typeface="Arial"/>
                <a:sym typeface="Arial"/>
              </a:rPr>
              <a:t> · RISK IDENTIFICATION &amp; MITIGATION</a:t>
            </a:r>
            <a:endParaRPr b="0" i="0" sz="1400" u="none" cap="none" strike="noStrike">
              <a:solidFill>
                <a:srgbClr val="000000"/>
              </a:solidFill>
              <a:latin typeface="Arial"/>
              <a:ea typeface="Arial"/>
              <a:cs typeface="Arial"/>
              <a:sym typeface="Arial"/>
            </a:endParaRPr>
          </a:p>
        </p:txBody>
      </p:sp>
      <p:sp>
        <p:nvSpPr>
          <p:cNvPr id="291" name="Google Shape;291;p9"/>
          <p:cNvSpPr/>
          <p:nvPr/>
        </p:nvSpPr>
        <p:spPr>
          <a:xfrm>
            <a:off x="609600" y="628650"/>
            <a:ext cx="10572750"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294E43"/>
                </a:solidFill>
                <a:latin typeface="Arial"/>
                <a:ea typeface="Arial"/>
                <a:cs typeface="Arial"/>
                <a:sym typeface="Arial"/>
              </a:rPr>
              <a:t>Five project-specific risks, each with a first response</a:t>
            </a:r>
            <a:endParaRPr b="0" i="0" sz="1400" u="none" cap="none" strike="noStrike">
              <a:solidFill>
                <a:srgbClr val="000000"/>
              </a:solidFill>
              <a:latin typeface="Arial"/>
              <a:ea typeface="Arial"/>
              <a:cs typeface="Arial"/>
              <a:sym typeface="Arial"/>
            </a:endParaRPr>
          </a:p>
        </p:txBody>
      </p:sp>
      <p:sp>
        <p:nvSpPr>
          <p:cNvPr id="292" name="Google Shape;292;p9"/>
          <p:cNvSpPr/>
          <p:nvPr/>
        </p:nvSpPr>
        <p:spPr>
          <a:xfrm>
            <a:off x="609600" y="1200150"/>
            <a:ext cx="10972800" cy="1905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93" name="Google Shape;293;p9"/>
          <p:cNvSpPr/>
          <p:nvPr/>
        </p:nvSpPr>
        <p:spPr>
          <a:xfrm>
            <a:off x="609600" y="1504950"/>
            <a:ext cx="50000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6EA284"/>
                </a:solidFill>
                <a:latin typeface="Arial"/>
                <a:ea typeface="Arial"/>
                <a:cs typeface="Arial"/>
                <a:sym typeface="Arial"/>
              </a:rPr>
              <a:t>KEY RISKS &amp; MITIGATION</a:t>
            </a:r>
            <a:endParaRPr b="0" i="0" sz="1400" u="none" cap="none" strike="noStrike">
              <a:solidFill>
                <a:srgbClr val="000000"/>
              </a:solidFill>
              <a:latin typeface="Arial"/>
              <a:ea typeface="Arial"/>
              <a:cs typeface="Arial"/>
              <a:sym typeface="Arial"/>
            </a:endParaRPr>
          </a:p>
        </p:txBody>
      </p:sp>
      <p:sp>
        <p:nvSpPr>
          <p:cNvPr id="294" name="Google Shape;294;p9"/>
          <p:cNvSpPr/>
          <p:nvPr/>
        </p:nvSpPr>
        <p:spPr>
          <a:xfrm>
            <a:off x="609600" y="1847850"/>
            <a:ext cx="6667500" cy="666750"/>
          </a:xfrm>
          <a:prstGeom prst="roundRect">
            <a:avLst>
              <a:gd fmla="val 17143"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95" name="Google Shape;295;p9"/>
          <p:cNvSpPr/>
          <p:nvPr/>
        </p:nvSpPr>
        <p:spPr>
          <a:xfrm>
            <a:off x="800100" y="1962150"/>
            <a:ext cx="2143125" cy="438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94E43"/>
                </a:solidFill>
                <a:latin typeface="Arial"/>
                <a:ea typeface="Arial"/>
                <a:cs typeface="Arial"/>
                <a:sym typeface="Arial"/>
              </a:rPr>
              <a:t>Auslan dialect variation</a:t>
            </a:r>
            <a:endParaRPr b="0" i="0" sz="1400" u="none" cap="none" strike="noStrike">
              <a:solidFill>
                <a:srgbClr val="000000"/>
              </a:solidFill>
              <a:latin typeface="Arial"/>
              <a:ea typeface="Arial"/>
              <a:cs typeface="Arial"/>
              <a:sym typeface="Arial"/>
            </a:endParaRPr>
          </a:p>
        </p:txBody>
      </p:sp>
      <p:sp>
        <p:nvSpPr>
          <p:cNvPr id="296" name="Google Shape;296;p9"/>
          <p:cNvSpPr/>
          <p:nvPr/>
        </p:nvSpPr>
        <p:spPr>
          <a:xfrm>
            <a:off x="3009900" y="1952625"/>
            <a:ext cx="4114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6352F"/>
                </a:solidFill>
                <a:latin typeface="Arial"/>
                <a:ea typeface="Arial"/>
                <a:cs typeface="Arial"/>
                <a:sym typeface="Arial"/>
              </a:rPr>
              <a:t>Limit v1 to 10-15 nationally common signs and have every demonstration checked by an Auslan user.</a:t>
            </a:r>
            <a:endParaRPr b="0" i="0" sz="1400" u="none" cap="none" strike="noStrike">
              <a:solidFill>
                <a:srgbClr val="000000"/>
              </a:solidFill>
              <a:latin typeface="Arial"/>
              <a:ea typeface="Arial"/>
              <a:cs typeface="Arial"/>
              <a:sym typeface="Arial"/>
            </a:endParaRPr>
          </a:p>
        </p:txBody>
      </p:sp>
      <p:sp>
        <p:nvSpPr>
          <p:cNvPr id="297" name="Google Shape;297;p9"/>
          <p:cNvSpPr/>
          <p:nvPr/>
        </p:nvSpPr>
        <p:spPr>
          <a:xfrm>
            <a:off x="609600" y="2676525"/>
            <a:ext cx="6667500" cy="666750"/>
          </a:xfrm>
          <a:prstGeom prst="roundRect">
            <a:avLst>
              <a:gd fmla="val 17143" name="adj"/>
            </a:avLst>
          </a:prstGeom>
          <a:solidFill>
            <a:srgbClr val="E7F3EA"/>
          </a:solidFill>
          <a:ln cap="flat" cmpd="sng" w="9525">
            <a:solidFill>
              <a:srgbClr val="E7F3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98" name="Google Shape;298;p9"/>
          <p:cNvSpPr/>
          <p:nvPr/>
        </p:nvSpPr>
        <p:spPr>
          <a:xfrm>
            <a:off x="800100" y="2790825"/>
            <a:ext cx="2143125" cy="438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94E43"/>
                </a:solidFill>
                <a:latin typeface="Arial"/>
                <a:ea typeface="Arial"/>
                <a:cs typeface="Arial"/>
                <a:sym typeface="Arial"/>
              </a:rPr>
              <a:t>Open dataset is dated and not maintained</a:t>
            </a:r>
            <a:endParaRPr b="0" i="0" sz="1400" u="none" cap="none" strike="noStrike">
              <a:solidFill>
                <a:srgbClr val="000000"/>
              </a:solidFill>
              <a:latin typeface="Arial"/>
              <a:ea typeface="Arial"/>
              <a:cs typeface="Arial"/>
              <a:sym typeface="Arial"/>
            </a:endParaRPr>
          </a:p>
        </p:txBody>
      </p:sp>
      <p:sp>
        <p:nvSpPr>
          <p:cNvPr id="299" name="Google Shape;299;p9"/>
          <p:cNvSpPr/>
          <p:nvPr/>
        </p:nvSpPr>
        <p:spPr>
          <a:xfrm>
            <a:off x="3009900" y="2781300"/>
            <a:ext cx="4114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6352F"/>
                </a:solidFill>
                <a:latin typeface="Arial"/>
                <a:ea typeface="Arial"/>
                <a:cs typeface="Arial"/>
                <a:sym typeface="Arial"/>
              </a:rPr>
              <a:t>Run a Week 1 spike mapping UCI sensor data to MediaPipe landmarks; if it fails, record our own set.</a:t>
            </a:r>
            <a:endParaRPr b="0" i="0" sz="1400" u="none" cap="none" strike="noStrike">
              <a:solidFill>
                <a:srgbClr val="000000"/>
              </a:solidFill>
              <a:latin typeface="Arial"/>
              <a:ea typeface="Arial"/>
              <a:cs typeface="Arial"/>
              <a:sym typeface="Arial"/>
            </a:endParaRPr>
          </a:p>
        </p:txBody>
      </p:sp>
      <p:sp>
        <p:nvSpPr>
          <p:cNvPr id="300" name="Google Shape;300;p9"/>
          <p:cNvSpPr/>
          <p:nvPr/>
        </p:nvSpPr>
        <p:spPr>
          <a:xfrm>
            <a:off x="609600" y="3505200"/>
            <a:ext cx="6667500" cy="666750"/>
          </a:xfrm>
          <a:prstGeom prst="roundRect">
            <a:avLst>
              <a:gd fmla="val 17143"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01" name="Google Shape;301;p9"/>
          <p:cNvSpPr/>
          <p:nvPr/>
        </p:nvSpPr>
        <p:spPr>
          <a:xfrm>
            <a:off x="800100" y="3619500"/>
            <a:ext cx="2143125" cy="438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94E43"/>
                </a:solidFill>
                <a:latin typeface="Arial"/>
                <a:ea typeface="Arial"/>
                <a:cs typeface="Arial"/>
                <a:sym typeface="Arial"/>
              </a:rPr>
              <a:t>Recognition fails on real webcams</a:t>
            </a:r>
            <a:endParaRPr b="0" i="0" sz="1400" u="none" cap="none" strike="noStrike">
              <a:solidFill>
                <a:srgbClr val="000000"/>
              </a:solidFill>
              <a:latin typeface="Arial"/>
              <a:ea typeface="Arial"/>
              <a:cs typeface="Arial"/>
              <a:sym typeface="Arial"/>
            </a:endParaRPr>
          </a:p>
        </p:txBody>
      </p:sp>
      <p:sp>
        <p:nvSpPr>
          <p:cNvPr id="302" name="Google Shape;302;p9"/>
          <p:cNvSpPr/>
          <p:nvPr/>
        </p:nvSpPr>
        <p:spPr>
          <a:xfrm>
            <a:off x="3009900" y="3609975"/>
            <a:ext cx="4114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6352F"/>
                </a:solidFill>
                <a:latin typeface="Arial"/>
                <a:ea typeface="Arial"/>
                <a:cs typeface="Arial"/>
                <a:sym typeface="Arial"/>
              </a:rPr>
              <a:t>Use visually distinct one-handed signs; show confidence and a retry hint, not a hard pass/fail.</a:t>
            </a:r>
            <a:endParaRPr b="0" i="0" sz="1400" u="none" cap="none" strike="noStrike">
              <a:solidFill>
                <a:srgbClr val="000000"/>
              </a:solidFill>
              <a:latin typeface="Arial"/>
              <a:ea typeface="Arial"/>
              <a:cs typeface="Arial"/>
              <a:sym typeface="Arial"/>
            </a:endParaRPr>
          </a:p>
        </p:txBody>
      </p:sp>
      <p:sp>
        <p:nvSpPr>
          <p:cNvPr id="303" name="Google Shape;303;p9"/>
          <p:cNvSpPr/>
          <p:nvPr/>
        </p:nvSpPr>
        <p:spPr>
          <a:xfrm>
            <a:off x="609600" y="4333875"/>
            <a:ext cx="6667500" cy="666750"/>
          </a:xfrm>
          <a:prstGeom prst="roundRect">
            <a:avLst>
              <a:gd fmla="val 17143" name="adj"/>
            </a:avLst>
          </a:prstGeom>
          <a:solidFill>
            <a:srgbClr val="E7F3EA"/>
          </a:solidFill>
          <a:ln cap="flat" cmpd="sng" w="9525">
            <a:solidFill>
              <a:srgbClr val="E7F3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04" name="Google Shape;304;p9"/>
          <p:cNvSpPr/>
          <p:nvPr/>
        </p:nvSpPr>
        <p:spPr>
          <a:xfrm>
            <a:off x="800100" y="4448175"/>
            <a:ext cx="2143125" cy="438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94E43"/>
                </a:solidFill>
                <a:latin typeface="Arial"/>
                <a:ea typeface="Arial"/>
                <a:cs typeface="Arial"/>
                <a:sym typeface="Arial"/>
              </a:rPr>
              <a:t>Webcam data and privacy compliance</a:t>
            </a:r>
            <a:endParaRPr b="0" i="0" sz="1400" u="none" cap="none" strike="noStrike">
              <a:solidFill>
                <a:srgbClr val="000000"/>
              </a:solidFill>
              <a:latin typeface="Arial"/>
              <a:ea typeface="Arial"/>
              <a:cs typeface="Arial"/>
              <a:sym typeface="Arial"/>
            </a:endParaRPr>
          </a:p>
        </p:txBody>
      </p:sp>
      <p:sp>
        <p:nvSpPr>
          <p:cNvPr id="305" name="Google Shape;305;p9"/>
          <p:cNvSpPr/>
          <p:nvPr/>
        </p:nvSpPr>
        <p:spPr>
          <a:xfrm>
            <a:off x="3009900" y="4438650"/>
            <a:ext cx="4114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6352F"/>
                </a:solidFill>
                <a:latin typeface="Arial"/>
                <a:ea typeface="Arial"/>
                <a:cs typeface="Arial"/>
                <a:sym typeface="Arial"/>
              </a:rPr>
              <a:t>Process frames in-browser, store no video, require no account, publish a plain-language notice.</a:t>
            </a:r>
            <a:endParaRPr b="0" i="0" sz="1400" u="none" cap="none" strike="noStrike">
              <a:solidFill>
                <a:srgbClr val="000000"/>
              </a:solidFill>
              <a:latin typeface="Arial"/>
              <a:ea typeface="Arial"/>
              <a:cs typeface="Arial"/>
              <a:sym typeface="Arial"/>
            </a:endParaRPr>
          </a:p>
        </p:txBody>
      </p:sp>
      <p:sp>
        <p:nvSpPr>
          <p:cNvPr id="306" name="Google Shape;306;p9"/>
          <p:cNvSpPr/>
          <p:nvPr/>
        </p:nvSpPr>
        <p:spPr>
          <a:xfrm>
            <a:off x="609600" y="5162550"/>
            <a:ext cx="6667500" cy="666750"/>
          </a:xfrm>
          <a:prstGeom prst="roundRect">
            <a:avLst>
              <a:gd fmla="val 17143"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07" name="Google Shape;307;p9"/>
          <p:cNvSpPr/>
          <p:nvPr/>
        </p:nvSpPr>
        <p:spPr>
          <a:xfrm>
            <a:off x="800100" y="5276850"/>
            <a:ext cx="2143125" cy="438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94E43"/>
                </a:solidFill>
                <a:latin typeface="Arial"/>
                <a:ea typeface="Arial"/>
                <a:cs typeface="Arial"/>
                <a:sym typeface="Arial"/>
              </a:rPr>
              <a:t>Hard to reach parents for testing</a:t>
            </a:r>
            <a:endParaRPr b="0" i="0" sz="1400" u="none" cap="none" strike="noStrike">
              <a:solidFill>
                <a:srgbClr val="000000"/>
              </a:solidFill>
              <a:latin typeface="Arial"/>
              <a:ea typeface="Arial"/>
              <a:cs typeface="Arial"/>
              <a:sym typeface="Arial"/>
            </a:endParaRPr>
          </a:p>
        </p:txBody>
      </p:sp>
      <p:sp>
        <p:nvSpPr>
          <p:cNvPr id="308" name="Google Shape;308;p9"/>
          <p:cNvSpPr/>
          <p:nvPr/>
        </p:nvSpPr>
        <p:spPr>
          <a:xfrm>
            <a:off x="3009900" y="5267325"/>
            <a:ext cx="4114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6352F"/>
                </a:solidFill>
                <a:latin typeface="Arial"/>
                <a:ea typeface="Arial"/>
                <a:cs typeface="Arial"/>
                <a:sym typeface="Arial"/>
              </a:rPr>
              <a:t>Recruit early through Deaf community groups and Auslan classes; accept async video or text feedback.</a:t>
            </a:r>
            <a:endParaRPr b="0" i="0" sz="1400" u="none" cap="none" strike="noStrike">
              <a:solidFill>
                <a:srgbClr val="000000"/>
              </a:solidFill>
              <a:latin typeface="Arial"/>
              <a:ea typeface="Arial"/>
              <a:cs typeface="Arial"/>
              <a:sym typeface="Arial"/>
            </a:endParaRPr>
          </a:p>
        </p:txBody>
      </p:sp>
      <p:sp>
        <p:nvSpPr>
          <p:cNvPr id="309" name="Google Shape;309;p9"/>
          <p:cNvSpPr/>
          <p:nvPr/>
        </p:nvSpPr>
        <p:spPr>
          <a:xfrm>
            <a:off x="7572375" y="1504950"/>
            <a:ext cx="4010025" cy="1943100"/>
          </a:xfrm>
          <a:prstGeom prst="roundRect">
            <a:avLst>
              <a:gd fmla="val 7742" name="adj"/>
            </a:avLst>
          </a:prstGeom>
          <a:solidFill>
            <a:srgbClr val="294E43"/>
          </a:solidFill>
          <a:ln cap="flat" cmpd="sng" w="9525">
            <a:solidFill>
              <a:srgbClr val="294E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10" name="Google Shape;310;p9"/>
          <p:cNvSpPr/>
          <p:nvPr/>
        </p:nvSpPr>
        <p:spPr>
          <a:xfrm>
            <a:off x="7743825" y="1685925"/>
            <a:ext cx="3667125"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1100" u="none" cap="none" strike="noStrike">
                <a:solidFill>
                  <a:srgbClr val="CFE7D6"/>
                </a:solidFill>
                <a:latin typeface="Arial"/>
                <a:ea typeface="Arial"/>
                <a:cs typeface="Arial"/>
                <a:sym typeface="Arial"/>
              </a:rPr>
              <a:t>TOP RISK TO RESOLVE FIRST</a:t>
            </a:r>
            <a:endParaRPr b="0" i="0" sz="1600" u="none" cap="none" strike="noStrike">
              <a:solidFill>
                <a:srgbClr val="000000"/>
              </a:solidFill>
              <a:latin typeface="Arial"/>
              <a:ea typeface="Arial"/>
              <a:cs typeface="Arial"/>
              <a:sym typeface="Arial"/>
            </a:endParaRPr>
          </a:p>
        </p:txBody>
      </p:sp>
      <p:sp>
        <p:nvSpPr>
          <p:cNvPr id="311" name="Google Shape;311;p9"/>
          <p:cNvSpPr/>
          <p:nvPr/>
        </p:nvSpPr>
        <p:spPr>
          <a:xfrm>
            <a:off x="7743825" y="1962150"/>
            <a:ext cx="366712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550" u="none" cap="none" strike="noStrike">
                <a:solidFill>
                  <a:srgbClr val="FFFFFF"/>
                </a:solidFill>
                <a:latin typeface="Arial"/>
                <a:ea typeface="Arial"/>
                <a:cs typeface="Arial"/>
                <a:sym typeface="Arial"/>
              </a:rPr>
              <a:t>Dataset-to-model mismatch</a:t>
            </a:r>
            <a:endParaRPr b="0" i="0" sz="1600" u="none" cap="none" strike="noStrike">
              <a:solidFill>
                <a:srgbClr val="000000"/>
              </a:solidFill>
              <a:latin typeface="Arial"/>
              <a:ea typeface="Arial"/>
              <a:cs typeface="Arial"/>
              <a:sym typeface="Arial"/>
            </a:endParaRPr>
          </a:p>
        </p:txBody>
      </p:sp>
      <p:sp>
        <p:nvSpPr>
          <p:cNvPr id="312" name="Google Shape;312;p9"/>
          <p:cNvSpPr/>
          <p:nvPr/>
        </p:nvSpPr>
        <p:spPr>
          <a:xfrm>
            <a:off x="7743825" y="2419350"/>
            <a:ext cx="3667125"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CFE7D6"/>
                </a:solidFill>
                <a:latin typeface="Arial"/>
                <a:ea typeface="Arial"/>
                <a:cs typeface="Arial"/>
                <a:sym typeface="Arial"/>
              </a:rPr>
              <a:t>It blocks every practice feature in Iteration 1, so the feasibility spike runs in Week 1 before any classifier work starts.</a:t>
            </a:r>
            <a:endParaRPr b="0" i="0" sz="1600" u="none" cap="none" strike="noStrike">
              <a:solidFill>
                <a:srgbClr val="000000"/>
              </a:solidFill>
              <a:latin typeface="Arial"/>
              <a:ea typeface="Arial"/>
              <a:cs typeface="Arial"/>
              <a:sym typeface="Arial"/>
            </a:endParaRPr>
          </a:p>
        </p:txBody>
      </p:sp>
      <p:sp>
        <p:nvSpPr>
          <p:cNvPr id="313" name="Google Shape;313;p9"/>
          <p:cNvSpPr/>
          <p:nvPr/>
        </p:nvSpPr>
        <p:spPr>
          <a:xfrm>
            <a:off x="7572375" y="3657600"/>
            <a:ext cx="4010025" cy="2171700"/>
          </a:xfrm>
          <a:prstGeom prst="roundRect">
            <a:avLst>
              <a:gd fmla="val 9143"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14" name="Google Shape;314;p9"/>
          <p:cNvSpPr/>
          <p:nvPr/>
        </p:nvSpPr>
        <p:spPr>
          <a:xfrm>
            <a:off x="7743825" y="3838575"/>
            <a:ext cx="3667125"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1100" u="none" cap="none" strike="noStrike">
                <a:solidFill>
                  <a:srgbClr val="6EA284"/>
                </a:solidFill>
                <a:latin typeface="Arial"/>
                <a:ea typeface="Arial"/>
                <a:cs typeface="Arial"/>
                <a:sym typeface="Arial"/>
              </a:rPr>
              <a:t>HOW WE TRACK RISKS</a:t>
            </a:r>
            <a:endParaRPr b="0" i="0" sz="1600" u="none" cap="none" strike="noStrike">
              <a:solidFill>
                <a:srgbClr val="000000"/>
              </a:solidFill>
              <a:latin typeface="Arial"/>
              <a:ea typeface="Arial"/>
              <a:cs typeface="Arial"/>
              <a:sym typeface="Arial"/>
            </a:endParaRPr>
          </a:p>
        </p:txBody>
      </p:sp>
      <p:sp>
        <p:nvSpPr>
          <p:cNvPr id="315" name="Google Shape;315;p9"/>
          <p:cNvSpPr/>
          <p:nvPr/>
        </p:nvSpPr>
        <p:spPr>
          <a:xfrm>
            <a:off x="7743825" y="4152900"/>
            <a:ext cx="3667125" cy="14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400" u="none" cap="none" strike="noStrike">
                <a:solidFill>
                  <a:srgbClr val="26352F"/>
                </a:solidFill>
                <a:latin typeface="Arial"/>
                <a:ea typeface="Arial"/>
                <a:cs typeface="Arial"/>
                <a:sym typeface="Arial"/>
              </a:rPr>
              <a:t>Risk log kept in the team repo</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400" u="none" cap="none" strike="noStrike">
                <a:solidFill>
                  <a:srgbClr val="26352F"/>
                </a:solidFill>
                <a:latin typeface="Arial"/>
                <a:ea typeface="Arial"/>
                <a:cs typeface="Arial"/>
                <a:sym typeface="Arial"/>
              </a:rPr>
              <a:t>One named owner for each risk</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400" u="none" cap="none" strike="noStrike">
                <a:solidFill>
                  <a:srgbClr val="26352F"/>
                </a:solidFill>
                <a:latin typeface="Arial"/>
                <a:ea typeface="Arial"/>
                <a:cs typeface="Arial"/>
                <a:sym typeface="Arial"/>
              </a:rPr>
              <a:t>Reviewed at the end of every sprint</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400" u="none" cap="none" strike="noStrike">
                <a:solidFill>
                  <a:srgbClr val="26352F"/>
                </a:solidFill>
                <a:latin typeface="Arial"/>
                <a:ea typeface="Arial"/>
                <a:cs typeface="Arial"/>
                <a:sym typeface="Arial"/>
              </a:rPr>
              <a:t>Status reported at each iteration demo</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400" u="none" cap="none" strike="noStrike">
                <a:solidFill>
                  <a:srgbClr val="26352F"/>
                </a:solidFill>
                <a:latin typeface="Arial"/>
                <a:ea typeface="Arial"/>
                <a:cs typeface="Arial"/>
                <a:sym typeface="Arial"/>
              </a:rPr>
              <a:t>Blocking risks escalated to our mentor</a:t>
            </a:r>
            <a:endParaRPr b="0" i="0" sz="1700" u="none" cap="none" strike="noStrike">
              <a:solidFill>
                <a:srgbClr val="000000"/>
              </a:solidFill>
              <a:latin typeface="Arial"/>
              <a:ea typeface="Arial"/>
              <a:cs typeface="Arial"/>
              <a:sym typeface="Arial"/>
            </a:endParaRPr>
          </a:p>
        </p:txBody>
      </p:sp>
      <p:sp>
        <p:nvSpPr>
          <p:cNvPr id="316" name="Google Shape;316;p9"/>
          <p:cNvSpPr/>
          <p:nvPr/>
        </p:nvSpPr>
        <p:spPr>
          <a:xfrm>
            <a:off x="609600" y="6524625"/>
            <a:ext cx="47625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65766F"/>
                </a:solidFill>
                <a:latin typeface="Arial"/>
                <a:ea typeface="Arial"/>
                <a:cs typeface="Arial"/>
                <a:sym typeface="Arial"/>
              </a:rPr>
              <a:t>FIT5120  ·  PROPOSAL TO INDUSTRY MENTOR</a:t>
            </a:r>
            <a:endParaRPr b="0" i="0" sz="1400" u="none" cap="none" strike="noStrike">
              <a:solidFill>
                <a:srgbClr val="000000"/>
              </a:solidFill>
              <a:latin typeface="Arial"/>
              <a:ea typeface="Arial"/>
              <a:cs typeface="Arial"/>
              <a:sym typeface="Arial"/>
            </a:endParaRPr>
          </a:p>
        </p:txBody>
      </p:sp>
      <p:sp>
        <p:nvSpPr>
          <p:cNvPr id="317" name="Google Shape;317;p9"/>
          <p:cNvSpPr/>
          <p:nvPr/>
        </p:nvSpPr>
        <p:spPr>
          <a:xfrm>
            <a:off x="11191875" y="6496050"/>
            <a:ext cx="381000" cy="1714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25"/>
              <a:buFont typeface="Arial"/>
              <a:buNone/>
            </a:pPr>
            <a:r>
              <a:rPr b="1" i="0" lang="en-US" sz="825" u="none" cap="none" strike="noStrike">
                <a:solidFill>
                  <a:srgbClr val="6EA284"/>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fac1166822_3_28"/>
          <p:cNvSpPr/>
          <p:nvPr/>
        </p:nvSpPr>
        <p:spPr>
          <a:xfrm>
            <a:off x="609600" y="333375"/>
            <a:ext cx="49530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900">
                <a:solidFill>
                  <a:srgbClr val="6EA284"/>
                </a:solidFill>
              </a:rPr>
              <a:t>10</a:t>
            </a:r>
            <a:r>
              <a:rPr b="1" i="0" lang="en-US" sz="900" u="none" cap="none" strike="noStrike">
                <a:solidFill>
                  <a:srgbClr val="6EA284"/>
                </a:solidFill>
                <a:latin typeface="Arial"/>
                <a:ea typeface="Arial"/>
                <a:cs typeface="Arial"/>
                <a:sym typeface="Arial"/>
              </a:rPr>
              <a:t> · SOURCES &amp; POTENTIAL SPONSORS</a:t>
            </a:r>
            <a:endParaRPr b="1" i="0" sz="900" u="none" cap="none" strike="noStrike">
              <a:solidFill>
                <a:srgbClr val="6EA284"/>
              </a:solidFill>
              <a:latin typeface="Arial"/>
              <a:ea typeface="Arial"/>
              <a:cs typeface="Arial"/>
              <a:sym typeface="Arial"/>
            </a:endParaRPr>
          </a:p>
        </p:txBody>
      </p:sp>
      <p:sp>
        <p:nvSpPr>
          <p:cNvPr id="324" name="Google Shape;324;g3fac1166822_3_28"/>
          <p:cNvSpPr/>
          <p:nvPr/>
        </p:nvSpPr>
        <p:spPr>
          <a:xfrm>
            <a:off x="609600" y="628650"/>
            <a:ext cx="10572750"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550" u="none" cap="none" strike="noStrike">
                <a:solidFill>
                  <a:srgbClr val="294E43"/>
                </a:solidFill>
                <a:latin typeface="Arial"/>
                <a:ea typeface="Arial"/>
                <a:cs typeface="Arial"/>
                <a:sym typeface="Arial"/>
              </a:rPr>
              <a:t>References &amp; Potential Sponsors</a:t>
            </a:r>
            <a:endParaRPr b="1" i="0" sz="2550" u="none" cap="none" strike="noStrike">
              <a:solidFill>
                <a:srgbClr val="294E43"/>
              </a:solidFill>
              <a:latin typeface="Arial"/>
              <a:ea typeface="Arial"/>
              <a:cs typeface="Arial"/>
              <a:sym typeface="Arial"/>
            </a:endParaRPr>
          </a:p>
        </p:txBody>
      </p:sp>
      <p:sp>
        <p:nvSpPr>
          <p:cNvPr id="325" name="Google Shape;325;g3fac1166822_3_28"/>
          <p:cNvSpPr/>
          <p:nvPr/>
        </p:nvSpPr>
        <p:spPr>
          <a:xfrm>
            <a:off x="609600" y="1200150"/>
            <a:ext cx="10972800" cy="19050"/>
          </a:xfrm>
          <a:prstGeom prst="rect">
            <a:avLst/>
          </a:prstGeom>
          <a:solidFill>
            <a:srgbClr val="CFE7D6"/>
          </a:solidFill>
          <a:ln cap="flat" cmpd="sng" w="9525">
            <a:solidFill>
              <a:srgbClr val="CFE7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3fac1166822_3_28"/>
          <p:cNvSpPr/>
          <p:nvPr/>
        </p:nvSpPr>
        <p:spPr>
          <a:xfrm>
            <a:off x="609600" y="6524625"/>
            <a:ext cx="47625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750" u="none" cap="none" strike="noStrike">
                <a:solidFill>
                  <a:srgbClr val="65766F"/>
                </a:solidFill>
                <a:latin typeface="Arial"/>
                <a:ea typeface="Arial"/>
                <a:cs typeface="Arial"/>
                <a:sym typeface="Arial"/>
              </a:rPr>
              <a:t>FIT5120  ·  PROPOSAL TO INDUSTRY MENTOR</a:t>
            </a:r>
            <a:endParaRPr b="1" i="0" sz="750" u="none" cap="none" strike="noStrike">
              <a:solidFill>
                <a:srgbClr val="65766F"/>
              </a:solidFill>
              <a:latin typeface="Arial"/>
              <a:ea typeface="Arial"/>
              <a:cs typeface="Arial"/>
              <a:sym typeface="Arial"/>
            </a:endParaRPr>
          </a:p>
        </p:txBody>
      </p:sp>
      <p:sp>
        <p:nvSpPr>
          <p:cNvPr id="327" name="Google Shape;327;g3fac1166822_3_28"/>
          <p:cNvSpPr/>
          <p:nvPr/>
        </p:nvSpPr>
        <p:spPr>
          <a:xfrm>
            <a:off x="11191875" y="6496050"/>
            <a:ext cx="381000" cy="1714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None/>
            </a:pPr>
            <a:r>
              <a:rPr b="1" i="0" lang="en-US" sz="825" u="none" cap="none" strike="noStrike">
                <a:solidFill>
                  <a:srgbClr val="6EA284"/>
                </a:solidFill>
                <a:latin typeface="Arial"/>
                <a:ea typeface="Arial"/>
                <a:cs typeface="Arial"/>
                <a:sym typeface="Arial"/>
              </a:rPr>
              <a:t>01</a:t>
            </a:r>
            <a:endParaRPr b="1" i="0" sz="825" u="none" cap="none" strike="noStrike">
              <a:solidFill>
                <a:srgbClr val="6EA284"/>
              </a:solidFill>
              <a:latin typeface="Arial"/>
              <a:ea typeface="Arial"/>
              <a:cs typeface="Arial"/>
              <a:sym typeface="Arial"/>
            </a:endParaRPr>
          </a:p>
        </p:txBody>
      </p:sp>
      <p:sp>
        <p:nvSpPr>
          <p:cNvPr id="328" name="Google Shape;328;g3fac1166822_3_28"/>
          <p:cNvSpPr/>
          <p:nvPr/>
        </p:nvSpPr>
        <p:spPr>
          <a:xfrm>
            <a:off x="609600" y="1457325"/>
            <a:ext cx="219075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975" u="none" cap="none" strike="noStrike">
                <a:solidFill>
                  <a:srgbClr val="6EA284"/>
                </a:solidFill>
                <a:latin typeface="Arial"/>
                <a:ea typeface="Arial"/>
                <a:cs typeface="Arial"/>
                <a:sym typeface="Arial"/>
              </a:rPr>
              <a:t>REFERENCES</a:t>
            </a:r>
            <a:endParaRPr b="1" i="0" sz="975" u="none" cap="none" strike="noStrike">
              <a:solidFill>
                <a:srgbClr val="6EA284"/>
              </a:solidFill>
              <a:latin typeface="Arial"/>
              <a:ea typeface="Arial"/>
              <a:cs typeface="Arial"/>
              <a:sym typeface="Arial"/>
            </a:endParaRPr>
          </a:p>
        </p:txBody>
      </p:sp>
      <p:sp>
        <p:nvSpPr>
          <p:cNvPr id="329" name="Google Shape;329;g3fac1166822_3_28"/>
          <p:cNvSpPr/>
          <p:nvPr/>
        </p:nvSpPr>
        <p:spPr>
          <a:xfrm>
            <a:off x="609600" y="1752600"/>
            <a:ext cx="5257800" cy="4286250"/>
          </a:xfrm>
          <a:prstGeom prst="roundRect">
            <a:avLst>
              <a:gd fmla="val 2667" name="adj"/>
            </a:avLst>
          </a:prstGeom>
          <a:solidFill>
            <a:srgbClr val="FFFFFF"/>
          </a:solidFill>
          <a:ln cap="flat" cmpd="sng" w="9525">
            <a:solidFill>
              <a:srgbClr val="C8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3fac1166822_3_28"/>
          <p:cNvSpPr/>
          <p:nvPr/>
        </p:nvSpPr>
        <p:spPr>
          <a:xfrm>
            <a:off x="781050" y="1952625"/>
            <a:ext cx="3048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825" u="none" cap="none" strike="noStrike">
                <a:solidFill>
                  <a:srgbClr val="6EA284"/>
                </a:solidFill>
                <a:latin typeface="Arial"/>
                <a:ea typeface="Arial"/>
                <a:cs typeface="Arial"/>
                <a:sym typeface="Arial"/>
              </a:rPr>
              <a:t>1.</a:t>
            </a:r>
            <a:endParaRPr b="1" i="0" sz="825" u="none" cap="none" strike="noStrike">
              <a:solidFill>
                <a:srgbClr val="6EA284"/>
              </a:solidFill>
              <a:latin typeface="Arial"/>
              <a:ea typeface="Arial"/>
              <a:cs typeface="Arial"/>
              <a:sym typeface="Arial"/>
            </a:endParaRPr>
          </a:p>
        </p:txBody>
      </p:sp>
      <p:sp>
        <p:nvSpPr>
          <p:cNvPr id="331" name="Google Shape;331;g3fac1166822_3_28"/>
          <p:cNvSpPr/>
          <p:nvPr/>
        </p:nvSpPr>
        <p:spPr>
          <a:xfrm>
            <a:off x="1123950" y="1933575"/>
            <a:ext cx="4467225" cy="3619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75" u="none" cap="none" strike="noStrike">
                <a:solidFill>
                  <a:srgbClr val="26352F"/>
                </a:solidFill>
                <a:latin typeface="Arial"/>
                <a:ea typeface="Arial"/>
                <a:cs typeface="Arial"/>
                <a:sym typeface="Arial"/>
              </a:rPr>
              <a:t>ABC News. (2022). Parents’ pleas for an Auslan tutor.</a:t>
            </a:r>
            <a:endParaRPr b="0" i="0" sz="975" u="none" cap="none" strike="noStrike">
              <a:solidFill>
                <a:srgbClr val="26352F"/>
              </a:solidFill>
              <a:latin typeface="Arial"/>
              <a:ea typeface="Arial"/>
              <a:cs typeface="Arial"/>
              <a:sym typeface="Arial"/>
            </a:endParaRPr>
          </a:p>
        </p:txBody>
      </p:sp>
      <p:sp>
        <p:nvSpPr>
          <p:cNvPr id="332" name="Google Shape;332;g3fac1166822_3_28"/>
          <p:cNvSpPr/>
          <p:nvPr/>
        </p:nvSpPr>
        <p:spPr>
          <a:xfrm>
            <a:off x="781050" y="2438400"/>
            <a:ext cx="3048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825" u="none" cap="none" strike="noStrike">
                <a:solidFill>
                  <a:srgbClr val="6EA284"/>
                </a:solidFill>
                <a:latin typeface="Arial"/>
                <a:ea typeface="Arial"/>
                <a:cs typeface="Arial"/>
                <a:sym typeface="Arial"/>
              </a:rPr>
              <a:t>2.</a:t>
            </a:r>
            <a:endParaRPr b="1" i="0" sz="825" u="none" cap="none" strike="noStrike">
              <a:solidFill>
                <a:srgbClr val="6EA284"/>
              </a:solidFill>
              <a:latin typeface="Arial"/>
              <a:ea typeface="Arial"/>
              <a:cs typeface="Arial"/>
              <a:sym typeface="Arial"/>
            </a:endParaRPr>
          </a:p>
        </p:txBody>
      </p:sp>
      <p:sp>
        <p:nvSpPr>
          <p:cNvPr id="333" name="Google Shape;333;g3fac1166822_3_28"/>
          <p:cNvSpPr/>
          <p:nvPr/>
        </p:nvSpPr>
        <p:spPr>
          <a:xfrm>
            <a:off x="1123950" y="2419350"/>
            <a:ext cx="4467225" cy="3619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75" u="none" cap="none" strike="noStrike">
                <a:solidFill>
                  <a:srgbClr val="26352F"/>
                </a:solidFill>
                <a:latin typeface="Arial"/>
                <a:ea typeface="Arial"/>
                <a:cs typeface="Arial"/>
                <a:sym typeface="Arial"/>
              </a:rPr>
              <a:t>ABC News. Children denied Auslan access.</a:t>
            </a:r>
            <a:endParaRPr b="0" i="0" sz="975" u="none" cap="none" strike="noStrike">
              <a:solidFill>
                <a:srgbClr val="26352F"/>
              </a:solidFill>
              <a:latin typeface="Arial"/>
              <a:ea typeface="Arial"/>
              <a:cs typeface="Arial"/>
              <a:sym typeface="Arial"/>
            </a:endParaRPr>
          </a:p>
        </p:txBody>
      </p:sp>
      <p:sp>
        <p:nvSpPr>
          <p:cNvPr id="334" name="Google Shape;334;g3fac1166822_3_28"/>
          <p:cNvSpPr/>
          <p:nvPr/>
        </p:nvSpPr>
        <p:spPr>
          <a:xfrm>
            <a:off x="781050" y="2924175"/>
            <a:ext cx="3048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825" u="none" cap="none" strike="noStrike">
                <a:solidFill>
                  <a:srgbClr val="6EA284"/>
                </a:solidFill>
                <a:latin typeface="Arial"/>
                <a:ea typeface="Arial"/>
                <a:cs typeface="Arial"/>
                <a:sym typeface="Arial"/>
              </a:rPr>
              <a:t>3.</a:t>
            </a:r>
            <a:endParaRPr b="1" i="0" sz="825" u="none" cap="none" strike="noStrike">
              <a:solidFill>
                <a:srgbClr val="6EA284"/>
              </a:solidFill>
              <a:latin typeface="Arial"/>
              <a:ea typeface="Arial"/>
              <a:cs typeface="Arial"/>
              <a:sym typeface="Arial"/>
            </a:endParaRPr>
          </a:p>
        </p:txBody>
      </p:sp>
      <p:sp>
        <p:nvSpPr>
          <p:cNvPr id="335" name="Google Shape;335;g3fac1166822_3_28"/>
          <p:cNvSpPr/>
          <p:nvPr/>
        </p:nvSpPr>
        <p:spPr>
          <a:xfrm>
            <a:off x="1123950" y="2905125"/>
            <a:ext cx="4467225" cy="3619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75" u="none" cap="none" strike="noStrike">
                <a:solidFill>
                  <a:srgbClr val="26352F"/>
                </a:solidFill>
                <a:latin typeface="Arial"/>
                <a:ea typeface="Arial"/>
                <a:cs typeface="Arial"/>
                <a:sym typeface="Arial"/>
              </a:rPr>
              <a:t>ABC News. Why this whole family is learning Auslan. </a:t>
            </a:r>
            <a:endParaRPr b="0" i="0" sz="975" u="none" cap="none" strike="noStrike">
              <a:solidFill>
                <a:srgbClr val="26352F"/>
              </a:solidFill>
              <a:latin typeface="Arial"/>
              <a:ea typeface="Arial"/>
              <a:cs typeface="Arial"/>
              <a:sym typeface="Arial"/>
            </a:endParaRPr>
          </a:p>
        </p:txBody>
      </p:sp>
      <p:sp>
        <p:nvSpPr>
          <p:cNvPr id="336" name="Google Shape;336;g3fac1166822_3_28"/>
          <p:cNvSpPr/>
          <p:nvPr/>
        </p:nvSpPr>
        <p:spPr>
          <a:xfrm>
            <a:off x="781050" y="3409950"/>
            <a:ext cx="3048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825" u="none" cap="none" strike="noStrike">
                <a:solidFill>
                  <a:srgbClr val="6EA284"/>
                </a:solidFill>
                <a:latin typeface="Arial"/>
                <a:ea typeface="Arial"/>
                <a:cs typeface="Arial"/>
                <a:sym typeface="Arial"/>
              </a:rPr>
              <a:t>4.</a:t>
            </a:r>
            <a:endParaRPr b="1" i="0" sz="825" u="none" cap="none" strike="noStrike">
              <a:solidFill>
                <a:srgbClr val="6EA284"/>
              </a:solidFill>
              <a:latin typeface="Arial"/>
              <a:ea typeface="Arial"/>
              <a:cs typeface="Arial"/>
              <a:sym typeface="Arial"/>
            </a:endParaRPr>
          </a:p>
        </p:txBody>
      </p:sp>
      <p:sp>
        <p:nvSpPr>
          <p:cNvPr id="337" name="Google Shape;337;g3fac1166822_3_28"/>
          <p:cNvSpPr/>
          <p:nvPr/>
        </p:nvSpPr>
        <p:spPr>
          <a:xfrm>
            <a:off x="1123950" y="3390900"/>
            <a:ext cx="4467225" cy="3619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75" u="none" cap="none" strike="noStrike">
                <a:solidFill>
                  <a:srgbClr val="26352F"/>
                </a:solidFill>
                <a:latin typeface="Arial"/>
                <a:ea typeface="Arial"/>
                <a:cs typeface="Arial"/>
                <a:sym typeface="Arial"/>
              </a:rPr>
              <a:t>Monash University. Family communication experiences of Deaf Australians. </a:t>
            </a:r>
            <a:endParaRPr b="0" i="0" sz="975" u="none" cap="none" strike="noStrike">
              <a:solidFill>
                <a:srgbClr val="26352F"/>
              </a:solidFill>
              <a:latin typeface="Arial"/>
              <a:ea typeface="Arial"/>
              <a:cs typeface="Arial"/>
              <a:sym typeface="Arial"/>
            </a:endParaRPr>
          </a:p>
        </p:txBody>
      </p:sp>
      <p:sp>
        <p:nvSpPr>
          <p:cNvPr id="338" name="Google Shape;338;g3fac1166822_3_28"/>
          <p:cNvSpPr/>
          <p:nvPr/>
        </p:nvSpPr>
        <p:spPr>
          <a:xfrm>
            <a:off x="781050" y="3895725"/>
            <a:ext cx="3048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825" u="none" cap="none" strike="noStrike">
                <a:solidFill>
                  <a:srgbClr val="6EA284"/>
                </a:solidFill>
                <a:latin typeface="Arial"/>
                <a:ea typeface="Arial"/>
                <a:cs typeface="Arial"/>
                <a:sym typeface="Arial"/>
              </a:rPr>
              <a:t>5.</a:t>
            </a:r>
            <a:endParaRPr b="1" i="0" sz="825" u="none" cap="none" strike="noStrike">
              <a:solidFill>
                <a:srgbClr val="6EA284"/>
              </a:solidFill>
              <a:latin typeface="Arial"/>
              <a:ea typeface="Arial"/>
              <a:cs typeface="Arial"/>
              <a:sym typeface="Arial"/>
            </a:endParaRPr>
          </a:p>
        </p:txBody>
      </p:sp>
      <p:sp>
        <p:nvSpPr>
          <p:cNvPr id="339" name="Google Shape;339;g3fac1166822_3_28"/>
          <p:cNvSpPr/>
          <p:nvPr/>
        </p:nvSpPr>
        <p:spPr>
          <a:xfrm>
            <a:off x="1123950" y="3876675"/>
            <a:ext cx="4467225" cy="3619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75" u="none" cap="none" strike="noStrike">
                <a:solidFill>
                  <a:srgbClr val="26352F"/>
                </a:solidFill>
                <a:latin typeface="Arial"/>
                <a:ea typeface="Arial"/>
                <a:cs typeface="Arial"/>
                <a:sym typeface="Arial"/>
              </a:rPr>
              <a:t>UCI. Australian Sign Language Signs .</a:t>
            </a:r>
            <a:endParaRPr b="0" i="0" sz="975" u="none" cap="none" strike="noStrike">
              <a:solidFill>
                <a:srgbClr val="26352F"/>
              </a:solidFill>
              <a:latin typeface="Arial"/>
              <a:ea typeface="Arial"/>
              <a:cs typeface="Arial"/>
              <a:sym typeface="Arial"/>
            </a:endParaRPr>
          </a:p>
        </p:txBody>
      </p:sp>
      <p:sp>
        <p:nvSpPr>
          <p:cNvPr id="340" name="Google Shape;340;g3fac1166822_3_28"/>
          <p:cNvSpPr/>
          <p:nvPr/>
        </p:nvSpPr>
        <p:spPr>
          <a:xfrm>
            <a:off x="781050" y="4381500"/>
            <a:ext cx="3048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825" u="none" cap="none" strike="noStrike">
                <a:solidFill>
                  <a:srgbClr val="6EA284"/>
                </a:solidFill>
                <a:latin typeface="Arial"/>
                <a:ea typeface="Arial"/>
                <a:cs typeface="Arial"/>
                <a:sym typeface="Arial"/>
              </a:rPr>
              <a:t>6.</a:t>
            </a:r>
            <a:endParaRPr b="1" i="0" sz="825" u="none" cap="none" strike="noStrike">
              <a:solidFill>
                <a:srgbClr val="6EA284"/>
              </a:solidFill>
              <a:latin typeface="Arial"/>
              <a:ea typeface="Arial"/>
              <a:cs typeface="Arial"/>
              <a:sym typeface="Arial"/>
            </a:endParaRPr>
          </a:p>
        </p:txBody>
      </p:sp>
      <p:sp>
        <p:nvSpPr>
          <p:cNvPr id="341" name="Google Shape;341;g3fac1166822_3_28"/>
          <p:cNvSpPr/>
          <p:nvPr/>
        </p:nvSpPr>
        <p:spPr>
          <a:xfrm>
            <a:off x="1123950" y="4362450"/>
            <a:ext cx="4467225" cy="3619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75" u="none" cap="none" strike="noStrike">
                <a:solidFill>
                  <a:srgbClr val="26352F"/>
                </a:solidFill>
                <a:latin typeface="Arial"/>
                <a:ea typeface="Arial"/>
                <a:cs typeface="Arial"/>
                <a:sym typeface="Arial"/>
              </a:rPr>
              <a:t>Monash University. Expanded Auslan Corpus Lite.</a:t>
            </a:r>
            <a:endParaRPr b="0" i="0" sz="975" u="none" cap="none" strike="noStrike">
              <a:solidFill>
                <a:srgbClr val="26352F"/>
              </a:solidFill>
              <a:latin typeface="Arial"/>
              <a:ea typeface="Arial"/>
              <a:cs typeface="Arial"/>
              <a:sym typeface="Arial"/>
            </a:endParaRPr>
          </a:p>
        </p:txBody>
      </p:sp>
      <p:sp>
        <p:nvSpPr>
          <p:cNvPr id="342" name="Google Shape;342;g3fac1166822_3_28"/>
          <p:cNvSpPr/>
          <p:nvPr/>
        </p:nvSpPr>
        <p:spPr>
          <a:xfrm>
            <a:off x="781050" y="4867275"/>
            <a:ext cx="3048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825" u="none" cap="none" strike="noStrike">
                <a:solidFill>
                  <a:srgbClr val="6EA284"/>
                </a:solidFill>
                <a:latin typeface="Arial"/>
                <a:ea typeface="Arial"/>
                <a:cs typeface="Arial"/>
                <a:sym typeface="Arial"/>
              </a:rPr>
              <a:t>7.</a:t>
            </a:r>
            <a:endParaRPr b="1" i="0" sz="825" u="none" cap="none" strike="noStrike">
              <a:solidFill>
                <a:srgbClr val="6EA284"/>
              </a:solidFill>
              <a:latin typeface="Arial"/>
              <a:ea typeface="Arial"/>
              <a:cs typeface="Arial"/>
              <a:sym typeface="Arial"/>
            </a:endParaRPr>
          </a:p>
        </p:txBody>
      </p:sp>
      <p:sp>
        <p:nvSpPr>
          <p:cNvPr id="343" name="Google Shape;343;g3fac1166822_3_28"/>
          <p:cNvSpPr/>
          <p:nvPr/>
        </p:nvSpPr>
        <p:spPr>
          <a:xfrm>
            <a:off x="1123950" y="4848225"/>
            <a:ext cx="4467225" cy="3619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75" u="none" cap="none" strike="noStrike">
                <a:solidFill>
                  <a:srgbClr val="26352F"/>
                </a:solidFill>
                <a:latin typeface="Arial"/>
                <a:ea typeface="Arial"/>
                <a:cs typeface="Arial"/>
                <a:sym typeface="Arial"/>
              </a:rPr>
              <a:t>United Nations. Sustainable Development Goals 4 &amp; 10.</a:t>
            </a:r>
            <a:endParaRPr b="0" i="0" sz="975" u="none" cap="none" strike="noStrike">
              <a:solidFill>
                <a:srgbClr val="26352F"/>
              </a:solidFill>
              <a:latin typeface="Arial"/>
              <a:ea typeface="Arial"/>
              <a:cs typeface="Arial"/>
              <a:sym typeface="Arial"/>
            </a:endParaRPr>
          </a:p>
        </p:txBody>
      </p:sp>
      <p:sp>
        <p:nvSpPr>
          <p:cNvPr id="344" name="Google Shape;344;g3fac1166822_3_28"/>
          <p:cNvSpPr/>
          <p:nvPr/>
        </p:nvSpPr>
        <p:spPr>
          <a:xfrm>
            <a:off x="781050" y="5486400"/>
            <a:ext cx="4810125"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825" u="none" cap="none" strike="noStrike">
                <a:solidFill>
                  <a:srgbClr val="B77A25"/>
                </a:solidFill>
                <a:latin typeface="Arial"/>
                <a:ea typeface="Arial"/>
                <a:cs typeface="Arial"/>
                <a:sym typeface="Arial"/>
              </a:rPr>
              <a:t>。</a:t>
            </a:r>
            <a:endParaRPr b="1" i="0" sz="825" u="none" cap="none" strike="noStrike">
              <a:solidFill>
                <a:srgbClr val="B77A25"/>
              </a:solidFill>
              <a:latin typeface="Arial"/>
              <a:ea typeface="Arial"/>
              <a:cs typeface="Arial"/>
              <a:sym typeface="Arial"/>
            </a:endParaRPr>
          </a:p>
        </p:txBody>
      </p:sp>
      <p:sp>
        <p:nvSpPr>
          <p:cNvPr id="345" name="Google Shape;345;g3fac1166822_3_28"/>
          <p:cNvSpPr/>
          <p:nvPr/>
        </p:nvSpPr>
        <p:spPr>
          <a:xfrm>
            <a:off x="6172200" y="1457325"/>
            <a:ext cx="28575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975" u="none" cap="none" strike="noStrike">
                <a:solidFill>
                  <a:srgbClr val="6EA284"/>
                </a:solidFill>
                <a:latin typeface="Arial"/>
                <a:ea typeface="Arial"/>
                <a:cs typeface="Arial"/>
                <a:sym typeface="Arial"/>
              </a:rPr>
              <a:t>POTENTIAL SPONSORS</a:t>
            </a:r>
            <a:endParaRPr b="1" i="0" sz="975" u="none" cap="none" strike="noStrike">
              <a:solidFill>
                <a:srgbClr val="6EA284"/>
              </a:solidFill>
              <a:latin typeface="Arial"/>
              <a:ea typeface="Arial"/>
              <a:cs typeface="Arial"/>
              <a:sym typeface="Arial"/>
            </a:endParaRPr>
          </a:p>
        </p:txBody>
      </p:sp>
      <p:sp>
        <p:nvSpPr>
          <p:cNvPr id="346" name="Google Shape;346;g3fac1166822_3_28"/>
          <p:cNvSpPr/>
          <p:nvPr/>
        </p:nvSpPr>
        <p:spPr>
          <a:xfrm>
            <a:off x="6172200" y="1752600"/>
            <a:ext cx="5410200" cy="2000250"/>
          </a:xfrm>
          <a:prstGeom prst="roundRect">
            <a:avLst>
              <a:gd fmla="val 5714" name="adj"/>
            </a:avLst>
          </a:prstGeom>
          <a:solidFill>
            <a:srgbClr val="E7F3EA"/>
          </a:solidFill>
          <a:ln cap="flat" cmpd="sng" w="9525">
            <a:solidFill>
              <a:srgbClr val="9CC8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fac1166822_3_28"/>
          <p:cNvSpPr/>
          <p:nvPr/>
        </p:nvSpPr>
        <p:spPr>
          <a:xfrm>
            <a:off x="6419850" y="1971675"/>
            <a:ext cx="390525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975" u="none" cap="none" strike="noStrike">
                <a:solidFill>
                  <a:srgbClr val="6EA284"/>
                </a:solidFill>
                <a:latin typeface="Arial"/>
                <a:ea typeface="Arial"/>
                <a:cs typeface="Arial"/>
                <a:sym typeface="Arial"/>
              </a:rPr>
              <a:t>DEAF CHILDREN AUSTRALIA</a:t>
            </a:r>
            <a:endParaRPr b="1" i="0" sz="975" u="none" cap="none" strike="noStrike">
              <a:solidFill>
                <a:srgbClr val="6EA284"/>
              </a:solidFill>
              <a:latin typeface="Arial"/>
              <a:ea typeface="Arial"/>
              <a:cs typeface="Arial"/>
              <a:sym typeface="Arial"/>
            </a:endParaRPr>
          </a:p>
        </p:txBody>
      </p:sp>
      <p:sp>
        <p:nvSpPr>
          <p:cNvPr id="348" name="Google Shape;348;g3fac1166822_3_28"/>
          <p:cNvSpPr/>
          <p:nvPr/>
        </p:nvSpPr>
        <p:spPr>
          <a:xfrm>
            <a:off x="6419850" y="2295525"/>
            <a:ext cx="4762500"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500" u="none" cap="none" strike="noStrike">
                <a:solidFill>
                  <a:srgbClr val="294E43"/>
                </a:solidFill>
                <a:latin typeface="Arial"/>
                <a:ea typeface="Arial"/>
                <a:cs typeface="Arial"/>
                <a:sym typeface="Arial"/>
              </a:rPr>
              <a:t>Supports Deaf and hard-of-hearing children and their families.</a:t>
            </a:r>
            <a:endParaRPr b="1" i="0" sz="1500" u="none" cap="none" strike="noStrike">
              <a:solidFill>
                <a:srgbClr val="294E43"/>
              </a:solidFill>
              <a:latin typeface="Arial"/>
              <a:ea typeface="Arial"/>
              <a:cs typeface="Arial"/>
              <a:sym typeface="Arial"/>
            </a:endParaRPr>
          </a:p>
        </p:txBody>
      </p:sp>
      <p:sp>
        <p:nvSpPr>
          <p:cNvPr id="349" name="Google Shape;349;g3fac1166822_3_28"/>
          <p:cNvSpPr/>
          <p:nvPr/>
        </p:nvSpPr>
        <p:spPr>
          <a:xfrm>
            <a:off x="6419850" y="2857500"/>
            <a:ext cx="4762500" cy="666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050" u="none" cap="none" strike="noStrike">
                <a:solidFill>
                  <a:srgbClr val="26352F"/>
                </a:solidFill>
                <a:latin typeface="Arial"/>
                <a:ea typeface="Arial"/>
                <a:cs typeface="Arial"/>
                <a:sym typeface="Arial"/>
              </a:rPr>
              <a:t>• Family programs, Auslan resources and parent support</a:t>
            </a:r>
            <a:endParaRPr b="0" i="0" sz="1050" u="none" cap="none" strike="noStrike">
              <a:solidFill>
                <a:srgbClr val="26352F"/>
              </a:solidFill>
              <a:latin typeface="Arial"/>
              <a:ea typeface="Arial"/>
              <a:cs typeface="Arial"/>
              <a:sym typeface="Arial"/>
            </a:endParaRPr>
          </a:p>
          <a:p>
            <a:pPr indent="0" lvl="0" marL="0" marR="0" rtl="0" algn="l">
              <a:lnSpc>
                <a:spcPct val="100000"/>
              </a:lnSpc>
              <a:spcBef>
                <a:spcPts val="0"/>
              </a:spcBef>
              <a:spcAft>
                <a:spcPts val="0"/>
              </a:spcAft>
              <a:buNone/>
            </a:pPr>
            <a:r>
              <a:rPr b="0" i="0" lang="en-US" sz="1050" u="none" cap="none" strike="noStrike">
                <a:solidFill>
                  <a:srgbClr val="26352F"/>
                </a:solidFill>
                <a:latin typeface="Arial"/>
                <a:ea typeface="Arial"/>
                <a:cs typeface="Arial"/>
                <a:sym typeface="Arial"/>
              </a:rPr>
              <a:t>• Could validate family needs and test the platform with parents and caregivers</a:t>
            </a:r>
            <a:endParaRPr b="0" i="0" sz="1050" u="none" cap="none" strike="noStrike">
              <a:solidFill>
                <a:srgbClr val="26352F"/>
              </a:solidFill>
              <a:latin typeface="Arial"/>
              <a:ea typeface="Arial"/>
              <a:cs typeface="Arial"/>
              <a:sym typeface="Arial"/>
            </a:endParaRPr>
          </a:p>
        </p:txBody>
      </p:sp>
      <p:sp>
        <p:nvSpPr>
          <p:cNvPr id="350" name="Google Shape;350;g3fac1166822_3_28"/>
          <p:cNvSpPr/>
          <p:nvPr/>
        </p:nvSpPr>
        <p:spPr>
          <a:xfrm>
            <a:off x="6172200" y="3943350"/>
            <a:ext cx="5410200" cy="2095500"/>
          </a:xfrm>
          <a:prstGeom prst="roundRect">
            <a:avLst>
              <a:gd fmla="val 5455" name="adj"/>
            </a:avLst>
          </a:prstGeom>
          <a:solidFill>
            <a:srgbClr val="FFF8E7"/>
          </a:solidFill>
          <a:ln cap="flat" cmpd="sng" w="9525">
            <a:solidFill>
              <a:srgbClr val="E7BE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fac1166822_3_28"/>
          <p:cNvSpPr/>
          <p:nvPr/>
        </p:nvSpPr>
        <p:spPr>
          <a:xfrm>
            <a:off x="6419850" y="4162425"/>
            <a:ext cx="390525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975" u="none" cap="none" strike="noStrike">
                <a:solidFill>
                  <a:srgbClr val="B77A25"/>
                </a:solidFill>
                <a:latin typeface="Arial"/>
                <a:ea typeface="Arial"/>
                <a:cs typeface="Arial"/>
                <a:sym typeface="Arial"/>
              </a:rPr>
              <a:t>EXPRESSION AUSTRALIA</a:t>
            </a:r>
            <a:endParaRPr b="1" i="0" sz="975" u="none" cap="none" strike="noStrike">
              <a:solidFill>
                <a:srgbClr val="B77A25"/>
              </a:solidFill>
              <a:latin typeface="Arial"/>
              <a:ea typeface="Arial"/>
              <a:cs typeface="Arial"/>
              <a:sym typeface="Arial"/>
            </a:endParaRPr>
          </a:p>
        </p:txBody>
      </p:sp>
      <p:sp>
        <p:nvSpPr>
          <p:cNvPr id="352" name="Google Shape;352;g3fac1166822_3_28"/>
          <p:cNvSpPr/>
          <p:nvPr/>
        </p:nvSpPr>
        <p:spPr>
          <a:xfrm>
            <a:off x="6419850" y="4486275"/>
            <a:ext cx="4762500" cy="41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500" u="none" cap="none" strike="noStrike">
                <a:solidFill>
                  <a:srgbClr val="294E43"/>
                </a:solidFill>
                <a:latin typeface="Arial"/>
                <a:ea typeface="Arial"/>
                <a:cs typeface="Arial"/>
                <a:sym typeface="Arial"/>
              </a:rPr>
              <a:t>Provides Auslan education and services for Deaf people and families.</a:t>
            </a:r>
            <a:endParaRPr b="1" i="0" sz="1500" u="none" cap="none" strike="noStrike">
              <a:solidFill>
                <a:srgbClr val="294E43"/>
              </a:solidFill>
              <a:latin typeface="Arial"/>
              <a:ea typeface="Arial"/>
              <a:cs typeface="Arial"/>
              <a:sym typeface="Arial"/>
            </a:endParaRPr>
          </a:p>
        </p:txBody>
      </p:sp>
      <p:sp>
        <p:nvSpPr>
          <p:cNvPr id="353" name="Google Shape;353;g3fac1166822_3_28"/>
          <p:cNvSpPr/>
          <p:nvPr/>
        </p:nvSpPr>
        <p:spPr>
          <a:xfrm>
            <a:off x="6419850" y="5067300"/>
            <a:ext cx="4762500" cy="72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050" u="none" cap="none" strike="noStrike">
                <a:solidFill>
                  <a:srgbClr val="26352F"/>
                </a:solidFill>
                <a:latin typeface="Arial"/>
                <a:ea typeface="Arial"/>
                <a:cs typeface="Arial"/>
                <a:sym typeface="Arial"/>
              </a:rPr>
              <a:t>• Runs Auslan in the Home and Auslan Storytime</a:t>
            </a:r>
            <a:endParaRPr b="0" i="0" sz="1050" u="none" cap="none" strike="noStrike">
              <a:solidFill>
                <a:srgbClr val="26352F"/>
              </a:solidFill>
              <a:latin typeface="Arial"/>
              <a:ea typeface="Arial"/>
              <a:cs typeface="Arial"/>
              <a:sym typeface="Arial"/>
            </a:endParaRPr>
          </a:p>
          <a:p>
            <a:pPr indent="0" lvl="0" marL="0" marR="0" rtl="0" algn="l">
              <a:lnSpc>
                <a:spcPct val="100000"/>
              </a:lnSpc>
              <a:spcBef>
                <a:spcPts val="0"/>
              </a:spcBef>
              <a:spcAft>
                <a:spcPts val="0"/>
              </a:spcAft>
              <a:buNone/>
            </a:pPr>
            <a:r>
              <a:rPr b="0" i="0" lang="en-US" sz="1050" u="none" cap="none" strike="noStrike">
                <a:solidFill>
                  <a:srgbClr val="26352F"/>
                </a:solidFill>
                <a:latin typeface="Arial"/>
                <a:ea typeface="Arial"/>
                <a:cs typeface="Arial"/>
                <a:sym typeface="Arial"/>
              </a:rPr>
              <a:t>• Could advise on Auslan accuracy, accessibility and culturally appropriate design</a:t>
            </a:r>
            <a:endParaRPr b="0" i="0" sz="1050" u="none" cap="none" strike="noStrike">
              <a:solidFill>
                <a:srgbClr val="26352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